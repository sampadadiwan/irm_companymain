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      Target="theme/theme1.xml"/>
  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     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01" name="rect_1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_102"/>
          <p:cNvSpPr>
            <a:spLocks noGrp="1"/>
          </p:cNvSpPr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_103"/>
          <p:cNvSpPr>
            <a:spLocks noGrp="1"/>
          </p:cNvSpPr>
          <p:nvPr/>
        </p:nvSpPr>
        <p:spPr>
          <a:xfrm>
            <a:off x="4064000" y="0"/>
            <a:ext cx="28575" cy="6858000"/>
          </a:xfrm>
          <a:prstGeom prst="rect">
            <a:avLst/>
          </a:prstGeom>
          <a:solidFill>
            <a:srgbClr val="D4A8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xt_104"/>
          <p:cNvSpPr txBox="1"/>
          <p:nvPr/>
        </p:nvSpPr>
        <p:spPr>
          <a:xfrm>
            <a:off x="342900" y="2629000"/>
            <a:ext cx="3378200" cy="5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05" name="txt_105"/>
          <p:cNvSpPr txBox="1"/>
          <p:nvPr/>
        </p:nvSpPr>
        <p:spPr>
          <a:xfrm>
            <a:off x="342900" y="3149000"/>
            <a:ext cx="337820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D1FAE5"/>
                </a:solidFill>
              </a:rPr>
              <a:t>Portfolio Report</a:t>
            </a:r>
          </a:p>
        </p:txBody>
      </p:sp>
      <p:sp>
        <p:nvSpPr>
          <p:cNvPr id="106" name="rect_106"/>
          <p:cNvSpPr>
            <a:spLocks noGrp="1"/>
          </p:cNvSpPr>
          <p:nvPr/>
        </p:nvSpPr>
        <p:spPr>
          <a:xfrm>
            <a:off x="342900" y="6258000"/>
            <a:ext cx="228600" cy="228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xt_107"/>
          <p:cNvSpPr txBox="1"/>
          <p:nvPr/>
        </p:nvSpPr>
        <p:spPr>
          <a:xfrm>
            <a:off x="628650" y="6258000"/>
            <a:ext cx="337820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D1FAE5"/>
                </a:solidFill>
              </a:rPr>
              <a:t>accent1: #047857</a:t>
            </a:r>
          </a:p>
        </p:txBody>
      </p:sp>
      <p:sp>
        <p:nvSpPr>
          <p:cNvPr id="108" name="placeholder_108"/>
          <p:cNvSpPr txBox="1"/>
          <p:nvPr/>
        </p:nvSpPr>
        <p:spPr>
          <a:xfrm>
            <a:off x="4435475" y="800000"/>
            <a:ext cx="7756525" cy="12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4400" b="1" i="0" dirty="0">
                <a:solidFill>
                  <a:srgbClr val="064E3B"/>
                </a:solidFill>
              </a:rPr>
              <a:t>[[ company name ]]</a:t>
            </a:r>
          </a:p>
        </p:txBody>
      </p:sp>
      <p:sp>
        <p:nvSpPr>
          <p:cNvPr id="109" name="rect_109"/>
          <p:cNvSpPr>
            <a:spLocks noGrp="1"/>
          </p:cNvSpPr>
          <p:nvPr/>
        </p:nvSpPr>
        <p:spPr>
          <a:xfrm>
            <a:off x="4435475" y="2100000"/>
            <a:ext cx="7756525" cy="190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placeholder_110"/>
          <p:cNvSpPr txBox="1"/>
          <p:nvPr/>
        </p:nvSpPr>
        <p:spPr>
          <a:xfrm>
            <a:off x="4435475" y="2200000"/>
            <a:ext cx="7756525" cy="6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2000" b="0" i="0" dirty="0">
                <a:solidFill>
                  <a:srgbClr val="0F766E"/>
                </a:solidFill>
              </a:rPr>
              <a:t>[[ fund name ]]</a:t>
            </a:r>
          </a:p>
        </p:txBody>
      </p:sp>
      <p:sp>
        <p:nvSpPr>
          <p:cNvPr id="111" name="placeholder_111"/>
          <p:cNvSpPr txBox="1"/>
          <p:nvPr/>
        </p:nvSpPr>
        <p:spPr>
          <a:xfrm>
            <a:off x="4435475" y="2900000"/>
            <a:ext cx="3878262" cy="3429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400" b="0" i="0" dirty="0">
                <a:solidFill>
                  <a:srgbClr val="334155"/>
                </a:solidFill>
              </a:rPr>
              <a:t>[[ period ]]</a:t>
            </a:r>
          </a:p>
        </p:txBody>
      </p:sp>
      <p:sp>
        <p:nvSpPr>
          <p:cNvPr id="112" name="txt_112"/>
          <p:cNvSpPr txBox="1"/>
          <p:nvPr/>
        </p:nvSpPr>
        <p:spPr>
          <a:xfrm>
            <a:off x="4435475" y="3350000"/>
            <a:ext cx="8000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1100" b="1" dirty="0">
                <a:solidFill>
                  <a:srgbClr val="94A3B8"/>
                </a:solidFill>
              </a:rPr>
              <a:t>Prepared:</a:t>
            </a:r>
          </a:p>
        </p:txBody>
      </p:sp>
      <p:sp>
        <p:nvSpPr>
          <p:cNvPr id="113" name="placeholder_113"/>
          <p:cNvSpPr txBox="1"/>
          <p:nvPr/>
        </p:nvSpPr>
        <p:spPr>
          <a:xfrm>
            <a:off x="5292725" y="3350000"/>
            <a:ext cx="6899275" cy="28575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100" b="0" i="0" dirty="0">
                <a:solidFill>
                  <a:srgbClr val="334155"/>
                </a:solidFill>
              </a:rPr>
              <a:t>[[ prepared date ]]</a:t>
            </a:r>
          </a:p>
        </p:txBody>
      </p:sp>
      <p:sp>
        <p:nvSpPr>
          <p:cNvPr id="114" name="rect_114"/>
          <p:cNvSpPr>
            <a:spLocks noGrp="1"/>
          </p:cNvSpPr>
          <p:nvPr/>
        </p:nvSpPr>
        <p:spPr>
          <a:xfrm>
            <a:off x="4435475" y="6458000"/>
            <a:ext cx="1371600" cy="228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xt_115"/>
          <p:cNvSpPr txBox="1"/>
          <p:nvPr/>
        </p:nvSpPr>
        <p:spPr>
          <a:xfrm>
            <a:off x="4435475" y="6458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B45309"/>
                </a:solidFill>
              </a:rPr>
              <a:t>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16" name="rect_1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_117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_118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txt_119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Contents</a:t>
            </a:r>
          </a:p>
        </p:txBody>
      </p:sp>
      <p:sp>
        <p:nvSpPr>
          <p:cNvPr id="120" name="rect_120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txt_121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22" name="rect_122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list_123"/>
          <p:cNvSpPr txBox="1"/>
          <p:nvPr/>
        </p:nvSpPr>
        <p:spPr>
          <a:xfrm>
            <a:off x="685800" y="1228725"/>
            <a:ext cx="5951220" cy="528637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marL="457200" indent="-457200"/>
            <a:r>
              <a:rPr lang="en-US" sz="1900" b="1" dirty="0">
                <a:solidFill>
                  <a:srgbClr val="047857"/>
                </a:solidFill>
              </a:rPr>
              <a:t>1.  </a:t>
            </a:r>
            <a:r>
              <a:rPr lang="en-US" sz="1900" b="0" dirty="0">
                <a:solidFill>
                  <a:srgbClr val="334155"/>
                </a:solidFill>
              </a:rPr>
              <a:t>Key Performance Indicators</a:t>
            </a:r>
          </a:p>
          <a:p>
            <a:pPr marL="457200" indent="-457200">
              <a:spcBef>
                <a:spcPts val="280"/>
              </a:spcBef>
            </a:pPr>
            <a:r>
              <a:rPr lang="en-US" sz="1900" b="1" dirty="0">
                <a:solidFill>
                  <a:srgbClr val="047857"/>
                </a:solidFill>
              </a:rPr>
              <a:t>2.  </a:t>
            </a:r>
            <a:r>
              <a:rPr lang="en-US" sz="1900" b="0" dirty="0">
                <a:solidFill>
                  <a:srgbClr val="334155"/>
                </a:solidFill>
              </a:rPr>
              <a:t>Business Overview</a:t>
            </a:r>
          </a:p>
          <a:p>
            <a:pPr marL="457200" indent="-457200">
              <a:spcBef>
                <a:spcPts val="280"/>
              </a:spcBef>
            </a:pPr>
            <a:r>
              <a:rPr lang="en-US" sz="1900" b="1" dirty="0">
                <a:solidFill>
                  <a:srgbClr val="047857"/>
                </a:solidFill>
              </a:rPr>
              <a:t>3.  </a:t>
            </a:r>
            <a:r>
              <a:rPr lang="en-US" sz="1900" b="0" dirty="0">
                <a:solidFill>
                  <a:srgbClr val="334155"/>
                </a:solidFill>
              </a:rPr>
              <a:t>Financial Highlights</a:t>
            </a:r>
          </a:p>
          <a:p>
            <a:pPr marL="457200" indent="-457200">
              <a:spcBef>
                <a:spcPts val="280"/>
              </a:spcBef>
            </a:pPr>
            <a:r>
              <a:rPr lang="en-US" sz="1900" b="1" dirty="0">
                <a:solidFill>
                  <a:srgbClr val="047857"/>
                </a:solidFill>
              </a:rPr>
              <a:t>4.  </a:t>
            </a:r>
            <a:r>
              <a:rPr lang="en-US" sz="1900" b="0" dirty="0">
                <a:solidFill>
                  <a:srgbClr val="334155"/>
                </a:solidFill>
              </a:rPr>
              <a:t>Operational Metrics</a:t>
            </a:r>
          </a:p>
          <a:p>
            <a:pPr marL="457200" indent="-457200">
              <a:spcBef>
                <a:spcPts val="280"/>
              </a:spcBef>
            </a:pPr>
            <a:r>
              <a:rPr lang="en-US" sz="1900" b="1" dirty="0">
                <a:solidFill>
                  <a:srgbClr val="047857"/>
                </a:solidFill>
              </a:rPr>
              <a:t>5.  </a:t>
            </a:r>
            <a:r>
              <a:rPr lang="en-US" sz="1900" b="0" dirty="0">
                <a:solidFill>
                  <a:srgbClr val="334155"/>
                </a:solidFill>
              </a:rPr>
              <a:t>Risks &amp; Outlook</a:t>
            </a:r>
          </a:p>
        </p:txBody>
      </p:sp>
      <p:sp>
        <p:nvSpPr>
          <p:cNvPr id="124" name="rect_124"/>
          <p:cNvSpPr>
            <a:spLocks noGrp="1"/>
          </p:cNvSpPr>
          <p:nvPr/>
        </p:nvSpPr>
        <p:spPr>
          <a:xfrm>
            <a:off x="6853428" y="1228725"/>
            <a:ext cx="4652772" cy="5286375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_125"/>
          <p:cNvSpPr>
            <a:spLocks noGrp="1"/>
          </p:cNvSpPr>
          <p:nvPr/>
        </p:nvSpPr>
        <p:spPr>
          <a:xfrm>
            <a:off x="6853428" y="1228725"/>
            <a:ext cx="9525" cy="5286375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txt_126"/>
          <p:cNvSpPr txBox="1"/>
          <p:nvPr/>
        </p:nvSpPr>
        <p:spPr>
          <a:xfrm>
            <a:off x="6910578" y="1343025"/>
            <a:ext cx="4481322" cy="4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1" dirty="0">
                <a:solidFill>
                  <a:srgbClr val="064E3B"/>
                </a:solidFill>
              </a:rPr>
              <a:t>How to use this template</a:t>
            </a:r>
          </a:p>
        </p:txBody>
      </p:sp>
      <p:sp>
        <p:nvSpPr>
          <p:cNvPr id="127" name="txt_127"/>
          <p:cNvSpPr txBox="1"/>
          <p:nvPr/>
        </p:nvSpPr>
        <p:spPr>
          <a:xfrm>
            <a:off x="6910578" y="1798725"/>
            <a:ext cx="4481322" cy="458637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334155"/>
                </a:solidFill>
              </a:rPr>
              <a:t>• Each [[ marker ]] shape is replaced with live data on export
• Rename [[ section: Name ]] to match your section names
• [[ kpi table ]] expands to fit the shape you drew
• All other shapes are preserved exactly as designed
• Edit in PowerPoint then re-upload as your style reference</a:t>
            </a:r>
          </a:p>
        </p:txBody>
      </p:sp>
      <p:sp>
        <p:nvSpPr>
          <p:cNvPr id="128" name="txt_128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129" name="txt_129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30" name="rect_13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_13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_132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xt_133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Key Performance Indicators</a:t>
            </a:r>
          </a:p>
        </p:txBody>
      </p:sp>
      <p:sp>
        <p:nvSpPr>
          <p:cNvPr id="134" name="rect_134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txt_135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36" name="rect_136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chip_bg_137"/>
          <p:cNvSpPr>
            <a:spLocks noGrp="1"/>
          </p:cNvSpPr>
          <p:nvPr/>
        </p:nvSpPr>
        <p:spPr>
          <a:xfrm>
            <a:off x="685800" y="1285875"/>
            <a:ext cx="3530600" cy="5715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047857"/>
            </a:solidFill>
          </a:ln>
        </p:spPr>
        <p:txBody>
          <a:bodyPr/>
          <a:lstStyle/>
          <a:p/>
        </p:txBody>
      </p:sp>
      <p:sp>
        <p:nvSpPr>
          <p:cNvPr id="138" name="chip_val_138"/>
          <p:cNvSpPr txBox="1"/>
          <p:nvPr/>
        </p:nvSpPr>
        <p:spPr>
          <a:xfrm>
            <a:off x="685800" y="1343025"/>
            <a:ext cx="35306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2200" b="1" dirty="0">
                <a:solidFill>
                  <a:srgbClr val="047857"/>
                </a:solidFill>
              </a:rPr>
              <a:t>e.g. €26.3m</a:t>
            </a:r>
          </a:p>
        </p:txBody>
      </p:sp>
      <p:sp>
        <p:nvSpPr>
          <p:cNvPr id="139" name="chip_lbl_139"/>
          <p:cNvSpPr txBox="1"/>
          <p:nvPr/>
        </p:nvSpPr>
        <p:spPr>
          <a:xfrm>
            <a:off x="685800" y="1628775"/>
            <a:ext cx="353060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rPr lang="en-US" sz="1000" b="0" dirty="0">
                <a:solidFill>
                  <a:srgbClr val="94A3B8"/>
                </a:solidFill>
              </a:rPr>
              <a:t>Revenue</a:t>
            </a:r>
          </a:p>
        </p:txBody>
      </p:sp>
      <p:sp>
        <p:nvSpPr>
          <p:cNvPr id="140" name="chip_bg_140"/>
          <p:cNvSpPr>
            <a:spLocks noGrp="1"/>
          </p:cNvSpPr>
          <p:nvPr/>
        </p:nvSpPr>
        <p:spPr>
          <a:xfrm>
            <a:off x="4330700" y="1285875"/>
            <a:ext cx="3530600" cy="5715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41" name="chip_val_141"/>
          <p:cNvSpPr txBox="1"/>
          <p:nvPr/>
        </p:nvSpPr>
        <p:spPr>
          <a:xfrm>
            <a:off x="4330700" y="1343025"/>
            <a:ext cx="35306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2200" b="1" dirty="0">
                <a:solidFill>
                  <a:srgbClr val="0F766E"/>
                </a:solidFill>
              </a:rPr>
              <a:t>e.g. 18.3%</a:t>
            </a:r>
          </a:p>
        </p:txBody>
      </p:sp>
      <p:sp>
        <p:nvSpPr>
          <p:cNvPr id="142" name="chip_lbl_142"/>
          <p:cNvSpPr txBox="1"/>
          <p:nvPr/>
        </p:nvSpPr>
        <p:spPr>
          <a:xfrm>
            <a:off x="4330700" y="1628775"/>
            <a:ext cx="353060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rPr lang="en-US" sz="1000" b="0" dirty="0">
                <a:solidFill>
                  <a:srgbClr val="94A3B8"/>
                </a:solidFill>
              </a:rPr>
              <a:t>EBITDA Mgn</a:t>
            </a:r>
          </a:p>
        </p:txBody>
      </p:sp>
      <p:sp>
        <p:nvSpPr>
          <p:cNvPr id="143" name="chip_bg_143"/>
          <p:cNvSpPr>
            <a:spLocks noGrp="1"/>
          </p:cNvSpPr>
          <p:nvPr/>
        </p:nvSpPr>
        <p:spPr>
          <a:xfrm>
            <a:off x="7975600" y="1285875"/>
            <a:ext cx="3530600" cy="5715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B45309"/>
            </a:solidFill>
          </a:ln>
        </p:spPr>
        <p:txBody>
          <a:bodyPr/>
          <a:lstStyle/>
          <a:p/>
        </p:txBody>
      </p:sp>
      <p:sp>
        <p:nvSpPr>
          <p:cNvPr id="144" name="chip_val_144"/>
          <p:cNvSpPr txBox="1"/>
          <p:nvPr/>
        </p:nvSpPr>
        <p:spPr>
          <a:xfrm>
            <a:off x="7975600" y="1343025"/>
            <a:ext cx="35306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2200" b="1" dirty="0">
                <a:solidFill>
                  <a:srgbClr val="B45309"/>
                </a:solidFill>
              </a:rPr>
              <a:t>e.g. 138</a:t>
            </a:r>
          </a:p>
        </p:txBody>
      </p:sp>
      <p:sp>
        <p:nvSpPr>
          <p:cNvPr id="145" name="chip_lbl_145"/>
          <p:cNvSpPr txBox="1"/>
          <p:nvPr/>
        </p:nvSpPr>
        <p:spPr>
          <a:xfrm>
            <a:off x="7975600" y="1628775"/>
            <a:ext cx="353060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rPr lang="en-US" sz="1000" b="0" dirty="0">
                <a:solidFill>
                  <a:srgbClr val="94A3B8"/>
                </a:solidFill>
              </a:rPr>
              <a:t>Headcount</a:t>
            </a:r>
          </a:p>
        </p:txBody>
      </p:sp>
      <p:sp>
        <p:nvSpPr>
          <p:cNvPr id="146" name="placeholder_146"/>
          <p:cNvSpPr txBox="1"/>
          <p:nvPr/>
        </p:nvSpPr>
        <p:spPr>
          <a:xfrm>
            <a:off x="685800" y="2085975"/>
            <a:ext cx="10820400" cy="4371975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0" i="0" dirty="0">
                <a:solidFill>
                  <a:srgbClr val="0F766E"/>
                </a:solidFill>
              </a:rPr>
              <a:t>[[ kpi table ]]</a:t>
            </a:r>
          </a:p>
        </p:txBody>
      </p:sp>
      <p:sp>
        <p:nvSpPr>
          <p:cNvPr id="147" name="txt_147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148" name="txt_148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49" name="rect_14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_15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_151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txt_152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Business Overview</a:t>
            </a:r>
          </a:p>
        </p:txBody>
      </p:sp>
      <p:sp>
        <p:nvSpPr>
          <p:cNvPr id="153" name="rect_153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txt_154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55" name="rect_155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placeholder_156"/>
          <p:cNvSpPr txBox="1"/>
          <p:nvPr/>
        </p:nvSpPr>
        <p:spPr>
          <a:xfrm>
            <a:off x="685800" y="1228725"/>
            <a:ext cx="6816852" cy="5286375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0" i="0" dirty="0">
                <a:solidFill>
                  <a:srgbClr val="334155"/>
                </a:solidFill>
              </a:rPr>
              <a:t>[[ section: Business Overview ]]</a:t>
            </a:r>
          </a:p>
        </p:txBody>
      </p:sp>
      <p:sp>
        <p:nvSpPr>
          <p:cNvPr id="157" name="rect_157"/>
          <p:cNvSpPr>
            <a:spLocks noGrp="1"/>
          </p:cNvSpPr>
          <p:nvPr/>
        </p:nvSpPr>
        <p:spPr>
          <a:xfrm>
            <a:off x="7719060" y="1228725"/>
            <a:ext cx="3787140" cy="5286375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_158"/>
          <p:cNvSpPr>
            <a:spLocks noGrp="1"/>
          </p:cNvSpPr>
          <p:nvPr/>
        </p:nvSpPr>
        <p:spPr>
          <a:xfrm>
            <a:off x="7719060" y="1228725"/>
            <a:ext cx="9525" cy="5286375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txt_159"/>
          <p:cNvSpPr txBox="1"/>
          <p:nvPr/>
        </p:nvSpPr>
        <p:spPr>
          <a:xfrm>
            <a:off x="7776210" y="1343025"/>
            <a:ext cx="361569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1" dirty="0">
                <a:solidFill>
                  <a:srgbClr val="047857"/>
                </a:solidFill>
              </a:rPr>
              <a:t>Key Takeaway</a:t>
            </a:r>
          </a:p>
        </p:txBody>
      </p:sp>
      <p:sp>
        <p:nvSpPr>
          <p:cNvPr id="160" name="txt_160"/>
          <p:cNvSpPr txBox="1"/>
          <p:nvPr/>
        </p:nvSpPr>
        <p:spPr>
          <a:xfrm>
            <a:off x="7776210" y="1743075"/>
            <a:ext cx="3615690" cy="465772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Edit this panel in PowerPoint to add a key stat, quote, or summary for Business Overview.</a:t>
            </a:r>
          </a:p>
        </p:txBody>
      </p:sp>
      <p:sp>
        <p:nvSpPr>
          <p:cNvPr id="161" name="txt_161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162" name="txt_162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63" name="rect_16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_164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_165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txt_166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Financial Highlights</a:t>
            </a:r>
          </a:p>
        </p:txBody>
      </p:sp>
      <p:sp>
        <p:nvSpPr>
          <p:cNvPr id="167" name="rect_167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txt_168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69" name="rect_169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placeholder_170"/>
          <p:cNvSpPr txBox="1"/>
          <p:nvPr/>
        </p:nvSpPr>
        <p:spPr>
          <a:xfrm>
            <a:off x="685800" y="1228725"/>
            <a:ext cx="6816852" cy="5286375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0" i="0" dirty="0">
                <a:solidFill>
                  <a:srgbClr val="334155"/>
                </a:solidFill>
              </a:rPr>
              <a:t>[[ section: Financial Highlights ]]</a:t>
            </a:r>
          </a:p>
        </p:txBody>
      </p:sp>
      <p:sp>
        <p:nvSpPr>
          <p:cNvPr id="171" name="rect_171"/>
          <p:cNvSpPr>
            <a:spLocks noGrp="1"/>
          </p:cNvSpPr>
          <p:nvPr/>
        </p:nvSpPr>
        <p:spPr>
          <a:xfrm>
            <a:off x="7719060" y="1228725"/>
            <a:ext cx="3787140" cy="5286375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_172"/>
          <p:cNvSpPr>
            <a:spLocks noGrp="1"/>
          </p:cNvSpPr>
          <p:nvPr/>
        </p:nvSpPr>
        <p:spPr>
          <a:xfrm>
            <a:off x="7719060" y="1228725"/>
            <a:ext cx="9525" cy="528637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txt_173"/>
          <p:cNvSpPr txBox="1"/>
          <p:nvPr/>
        </p:nvSpPr>
        <p:spPr>
          <a:xfrm>
            <a:off x="7776210" y="1343025"/>
            <a:ext cx="361569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1" dirty="0">
                <a:solidFill>
                  <a:srgbClr val="0F766E"/>
                </a:solidFill>
              </a:rPr>
              <a:t>Key Takeaway</a:t>
            </a:r>
          </a:p>
        </p:txBody>
      </p:sp>
      <p:sp>
        <p:nvSpPr>
          <p:cNvPr id="174" name="txt_174"/>
          <p:cNvSpPr txBox="1"/>
          <p:nvPr/>
        </p:nvSpPr>
        <p:spPr>
          <a:xfrm>
            <a:off x="7776210" y="1743075"/>
            <a:ext cx="3615690" cy="465772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Edit this panel in PowerPoint to add a key stat, quote, or summary for Financial Highlights.</a:t>
            </a:r>
          </a:p>
        </p:txBody>
      </p:sp>
      <p:sp>
        <p:nvSpPr>
          <p:cNvPr id="175" name="txt_175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176" name="txt_176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77" name="rect_17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_178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_179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txt_180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Operational Metrics</a:t>
            </a:r>
          </a:p>
        </p:txBody>
      </p:sp>
      <p:sp>
        <p:nvSpPr>
          <p:cNvPr id="181" name="rect_181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txt_182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83" name="rect_183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placeholder_184"/>
          <p:cNvSpPr txBox="1"/>
          <p:nvPr/>
        </p:nvSpPr>
        <p:spPr>
          <a:xfrm>
            <a:off x="685800" y="1228725"/>
            <a:ext cx="6816852" cy="5286375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0" i="0" dirty="0">
                <a:solidFill>
                  <a:srgbClr val="334155"/>
                </a:solidFill>
              </a:rPr>
              <a:t>[[ section: Operational Metrics ]]</a:t>
            </a:r>
          </a:p>
        </p:txBody>
      </p:sp>
      <p:sp>
        <p:nvSpPr>
          <p:cNvPr id="185" name="rect_185"/>
          <p:cNvSpPr>
            <a:spLocks noGrp="1"/>
          </p:cNvSpPr>
          <p:nvPr/>
        </p:nvSpPr>
        <p:spPr>
          <a:xfrm>
            <a:off x="7719060" y="1228725"/>
            <a:ext cx="3787140" cy="52863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_186"/>
          <p:cNvSpPr>
            <a:spLocks noGrp="1"/>
          </p:cNvSpPr>
          <p:nvPr/>
        </p:nvSpPr>
        <p:spPr>
          <a:xfrm>
            <a:off x="7719060" y="1228725"/>
            <a:ext cx="9525" cy="5286375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txt_187"/>
          <p:cNvSpPr txBox="1"/>
          <p:nvPr/>
        </p:nvSpPr>
        <p:spPr>
          <a:xfrm>
            <a:off x="7776210" y="1343025"/>
            <a:ext cx="361569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1" dirty="0">
                <a:solidFill>
                  <a:srgbClr val="B45309"/>
                </a:solidFill>
              </a:rPr>
              <a:t>Key Takeaway</a:t>
            </a:r>
          </a:p>
        </p:txBody>
      </p:sp>
      <p:sp>
        <p:nvSpPr>
          <p:cNvPr id="188" name="txt_188"/>
          <p:cNvSpPr txBox="1"/>
          <p:nvPr/>
        </p:nvSpPr>
        <p:spPr>
          <a:xfrm>
            <a:off x="7776210" y="1743075"/>
            <a:ext cx="3615690" cy="465772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Edit this panel in PowerPoint to add a key stat, quote, or summary for Operational Metrics.</a:t>
            </a:r>
          </a:p>
        </p:txBody>
      </p:sp>
      <p:sp>
        <p:nvSpPr>
          <p:cNvPr id="189" name="txt_189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190" name="txt_190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191" name="rect_19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_19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_193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txt_194"/>
          <p:cNvSpPr txBox="1"/>
          <p:nvPr/>
        </p:nvSpPr>
        <p:spPr>
          <a:xfrm>
            <a:off x="685800" y="114300"/>
            <a:ext cx="81153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</a:rPr>
              <a:t>Risks &amp; Outlook</a:t>
            </a:r>
          </a:p>
        </p:txBody>
      </p:sp>
      <p:sp>
        <p:nvSpPr>
          <p:cNvPr id="195" name="rect_195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txt_196"/>
          <p:cNvSpPr txBox="1"/>
          <p:nvPr/>
        </p:nvSpPr>
        <p:spPr>
          <a:xfrm>
            <a:off x="11812000" y="0"/>
            <a:ext cx="360000" cy="1143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CapHive</a:t>
            </a:r>
          </a:p>
        </p:txBody>
      </p:sp>
      <p:sp>
        <p:nvSpPr>
          <p:cNvPr id="197" name="rect_197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placeholder_198"/>
          <p:cNvSpPr txBox="1"/>
          <p:nvPr/>
        </p:nvSpPr>
        <p:spPr>
          <a:xfrm>
            <a:off x="685800" y="1228725"/>
            <a:ext cx="6816852" cy="5286375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dash"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0" i="0" dirty="0">
                <a:solidFill>
                  <a:srgbClr val="334155"/>
                </a:solidFill>
              </a:rPr>
              <a:t>[[ section: Risks &amp; Outlook ]]</a:t>
            </a:r>
          </a:p>
        </p:txBody>
      </p:sp>
      <p:sp>
        <p:nvSpPr>
          <p:cNvPr id="199" name="rect_199"/>
          <p:cNvSpPr>
            <a:spLocks noGrp="1"/>
          </p:cNvSpPr>
          <p:nvPr/>
        </p:nvSpPr>
        <p:spPr>
          <a:xfrm>
            <a:off x="7719060" y="1228725"/>
            <a:ext cx="3787140" cy="5286375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_200"/>
          <p:cNvSpPr>
            <a:spLocks noGrp="1"/>
          </p:cNvSpPr>
          <p:nvPr/>
        </p:nvSpPr>
        <p:spPr>
          <a:xfrm>
            <a:off x="7719060" y="1228725"/>
            <a:ext cx="9525" cy="5286375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xt_201"/>
          <p:cNvSpPr txBox="1"/>
          <p:nvPr/>
        </p:nvSpPr>
        <p:spPr>
          <a:xfrm>
            <a:off x="7776210" y="1343025"/>
            <a:ext cx="361569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1" dirty="0">
                <a:solidFill>
                  <a:srgbClr val="065F46"/>
                </a:solidFill>
              </a:rPr>
              <a:t>Key Takeaway</a:t>
            </a:r>
          </a:p>
        </p:txBody>
      </p:sp>
      <p:sp>
        <p:nvSpPr>
          <p:cNvPr id="202" name="txt_202"/>
          <p:cNvSpPr txBox="1"/>
          <p:nvPr/>
        </p:nvSpPr>
        <p:spPr>
          <a:xfrm>
            <a:off x="7776210" y="1743075"/>
            <a:ext cx="3615690" cy="465772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Edit this panel in PowerPoint to add a key stat, quote, or summary for Risks &amp; Outlook.</a:t>
            </a:r>
          </a:p>
        </p:txBody>
      </p:sp>
      <p:sp>
        <p:nvSpPr>
          <p:cNvPr id="203" name="txt_203"/>
          <p:cNvSpPr txBox="1"/>
          <p:nvPr/>
        </p:nvSpPr>
        <p:spPr>
          <a:xfrm>
            <a:off x="6858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800" b="0" dirty="0">
                <a:solidFill>
                  <a:srgbClr val="94A3B8"/>
                </a:solidFill>
              </a:rPr>
              <a:t>CONFIDENTIAL  ·  CapHive</a:t>
            </a:r>
          </a:p>
        </p:txBody>
      </p:sp>
      <p:sp>
        <p:nvSpPr>
          <p:cNvPr id="204" name="txt_204"/>
          <p:cNvSpPr txBox="1"/>
          <p:nvPr/>
        </p:nvSpPr>
        <p:spPr>
          <a:xfrm>
            <a:off x="6096000" y="6629400"/>
            <a:ext cx="5410200" cy="2857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r"/>
            <a:r>
              <a:rPr lang="en-US" sz="800" b="0" dirty="0">
                <a:solidFill>
                  <a:srgbClr val="94A3B8"/>
                </a:solidFill>
              </a:rPr>
              <a:t>29 May 2026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</a:xfrm>
      </p:grpSpPr>
      <p:sp>
        <p:nvSpPr>
          <p:cNvPr id="205" name="rect_20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_206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4A8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_207"/>
          <p:cNvSpPr>
            <a:spLocks noGrp="1"/>
          </p:cNvSpPr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txt_208"/>
          <p:cNvSpPr txBox="1"/>
          <p:nvPr/>
        </p:nvSpPr>
        <p:spPr>
          <a:xfrm>
            <a:off x="685800" y="2729000"/>
            <a:ext cx="108204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Appendix &amp; Disclosures</a:t>
            </a:r>
          </a:p>
        </p:txBody>
      </p:sp>
      <p:sp>
        <p:nvSpPr>
          <p:cNvPr id="209" name="txt_209"/>
          <p:cNvSpPr txBox="1"/>
          <p:nvPr/>
        </p:nvSpPr>
        <p:spPr>
          <a:xfrm>
            <a:off x="685800" y="3543300"/>
            <a:ext cx="108204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rPr lang="en-US" sz="1200" b="0" dirty="0">
                <a:solidFill>
                  <a:srgbClr val="D1FAE5"/>
                </a:solidFill>
              </a:rPr>
              <a:t>This document is confidential and prepared solely for the intended recipient. All financial information is unaudited and subject to change. Past performance is not a reliable indicator of future results.</a:t>
            </a:r>
          </a:p>
        </p:txBody>
      </p:sp>
      <p:sp>
        <p:nvSpPr>
          <p:cNvPr id="210" name="txt_210"/>
          <p:cNvSpPr txBox="1"/>
          <p:nvPr/>
        </p:nvSpPr>
        <p:spPr>
          <a:xfrm>
            <a:off x="685800" y="65151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900" b="0" dirty="0">
                <a:solidFill>
                  <a:srgbClr val="047857"/>
                </a:solidFill>
              </a:rPr>
              <a:t>CapHive  ·  Generated 29 May 2026</a:t>
            </a:r>
          </a:p>
        </p:txBody>
      </p:sp>
    </p:spTree>
  </p:cSld>
</p:sld>
</file>

<file path=ppt/theme/theme1.xml><?xml version="1.0" encoding="utf-8"?>
<a:theme xmlns:a="http://schemas.openxmlformats.org/drawingml/2006/main" name="CapHiveEmerald">
  <a:themeElements>
    <a:clrScheme name="CapHiveEmerald">
      <a:dk1>
        <a:srgbClr val="064E3B"/>
      </a:dk1>
      <a:lt1>
        <a:srgbClr val="FFFFFF"/>
      </a:lt1>
      <a:dk2>
        <a:srgbClr val="065F46"/>
      </a:dk2>
      <a:lt2>
        <a:srgbClr val="ECFDF5"/>
      </a:lt2>
      <a:accent1>
        <a:srgbClr val="047857"/>
      </a:accent1>
      <a:accent2>
        <a:srgbClr val="0F766E"/>
      </a:accent2>
      <a:accent3>
        <a:srgbClr val="B45309"/>
      </a:accent3>
      <a:accent4>
        <a:srgbClr val="10B981"/>
      </a:accent4>
      <a:accent5>
        <a:srgbClr val="D1FAE5"/>
      </a:accent5>
      <a:accent6>
        <a:srgbClr val="D4A847"/>
      </a:accent6>
      <a:hlink>
        <a:srgbClr val="0F766E"/>
      </a:hlink>
      <a:folHlink>
        <a:srgbClr val="10B981"/>
      </a:folHlink>
    </a:clrScheme>
    <a:fontScheme name="CapHiveEmeral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apHiveEmeral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