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
    Type="http://schemas.openxmlformats.org/officeDocument/2006/relationships/officeDocument"
    Target="ppt/presentation.xml"/>
</Relationships>
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</p:sldIdLst>
  <p:sldSz cx="12192000" cy="6858000" type="custom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  <Relationship Id="rId4" Type="http://schemas.openxmlformats.org/officeDocument/2006/relationships/slide" Target="slides/slide2.xml"/>
    <Relationship Id="rId5" Type="http://schemas.openxmlformats.org/officeDocument/2006/relationships/slide" Target="slides/slide3.xml"/>
    <Relationship Id="rId6" Type="http://schemas.openxmlformats.org/officeDocument/2006/relationships/slide" Target="slides/slide4.xml"/>
    <Relationship Id="rId7" Type="http://schemas.openxmlformats.org/officeDocument/2006/relationships/slide" Target="slides/slide5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stStyle/>
    </p:titleStyle>
    <p:bodyStyle>
      <a:lstStyle/>
    </p:bodyStyle>
    <p:otherStyle>
      <a:lstStyle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>
          <a:grpSpLocks noGrp="1"/>
        </p:cNvGrpSpPr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rect_10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txBody>
          <a:bodyPr/>
          <a:lstStyle/>
          <a:p/>
        </p:txBody>
      </p:sp>
      <p:sp>
        <p:nvSpPr>
          <p:cNvPr id="102" name="rect_102"/>
          <p:cNvSpPr>
            <a:spLocks noGrp="1"/>
          </p:cNvSpPr>
          <p:nvPr/>
        </p:nvSpPr>
        <p:spPr>
          <a:xfrm>
            <a:off x="0" y="0"/>
            <a:ext cx="4064000" cy="6858000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txBody>
          <a:bodyPr/>
          <a:lstStyle/>
          <a:p/>
        </p:txBody>
      </p:sp>
      <p:sp>
        <p:nvSpPr>
          <p:cNvPr id="103" name="rect_103"/>
          <p:cNvSpPr>
            <a:spLocks noGrp="1"/>
          </p:cNvSpPr>
          <p:nvPr/>
        </p:nvSpPr>
        <p:spPr>
          <a:xfrm>
            <a:off x="4064000" y="0"/>
            <a:ext cx="28575" cy="6858000"/>
          </a:xfrm>
          <a:prstGeom prst="rect">
            <a:avLst/>
          </a:prstGeom>
          <a:solidFill>
            <a:srgbClr val="D4A847"/>
          </a:solidFill>
          <a:ln>
            <a:noFill/>
          </a:ln>
        </p:spPr>
        <p:txBody>
          <a:bodyPr/>
          <a:lstStyle/>
          <a:p/>
        </p:txBody>
      </p:sp>
      <p:sp>
        <p:nvSpPr>
          <p:cNvPr id="104" name="txt_104"/>
          <p:cNvSpPr txBox="1"/>
          <p:nvPr/>
        </p:nvSpPr>
        <p:spPr>
          <a:xfrm>
            <a:off x="342900" y="2829000"/>
            <a:ext cx="3378200" cy="600000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normAutofit/>
          </a:bodyPr>
          <a:lstStyle/>
          <a:p>
            <a:pPr algn="l"/>
            <a:r>
              <a:rPr lang="en-US" sz="2000" b="1" dirty="0">
                <a:solidFill>
                  <a:srgbClr val="FFFFFF"/>
                </a:solidFill>
              </a:rPr>
              <a:t>CapHive Emerald</a:t>
            </a:r>
          </a:p>
        </p:txBody>
      </p:sp>
      <p:sp>
        <p:nvSpPr>
          <p:cNvPr id="105" name="txt_105"/>
          <p:cNvSpPr txBox="1"/>
          <p:nvPr/>
        </p:nvSpPr>
        <p:spPr>
          <a:xfrm>
            <a:off x="342900" y="3486150"/>
            <a:ext cx="3378200" cy="342900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normAutofit/>
          </a:bodyPr>
          <a:lstStyle/>
          <a:p>
            <a:pPr algn="l"/>
            <a:r>
              <a:rPr lang="en-US" sz="1200" b="0" dirty="0">
                <a:solidFill>
                  <a:srgbClr val="D1FAE5"/>
                </a:solidFill>
              </a:rPr>
              <a:t>Brand Theme Template</a:t>
            </a:r>
          </a:p>
        </p:txBody>
      </p:sp>
      <p:sp>
        <p:nvSpPr>
          <p:cNvPr id="106" name="txt_106"/>
          <p:cNvSpPr txBox="1"/>
          <p:nvPr/>
        </p:nvSpPr>
        <p:spPr>
          <a:xfrm>
            <a:off x="342900" y="6058000"/>
            <a:ext cx="3378200" cy="285750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normAutofit/>
          </a:bodyPr>
          <a:lstStyle/>
          <a:p>
            <a:pPr algn="l"/>
            <a:r>
              <a:rPr lang="en-US" sz="900" b="0" dirty="0">
                <a:solidFill>
                  <a:srgbClr val="10B981"/>
                </a:solidFill>
              </a:rPr>
              <a:t>accent1</a:t>
            </a:r>
          </a:p>
        </p:txBody>
      </p:sp>
      <p:sp>
        <p:nvSpPr>
          <p:cNvPr id="107" name="txt_107"/>
          <p:cNvSpPr txBox="1"/>
          <p:nvPr/>
        </p:nvSpPr>
        <p:spPr>
          <a:xfrm>
            <a:off x="342900" y="6338000"/>
            <a:ext cx="3378200" cy="285750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normAutofit/>
          </a:bodyPr>
          <a:lstStyle/>
          <a:p>
            <a:pPr algn="l"/>
            <a:r>
              <a:rPr lang="en-US" sz="1000" b="1" dirty="0">
                <a:solidFill>
                  <a:srgbClr val="D1FAE5"/>
                </a:solidFill>
              </a:rPr>
              <a:t>#047857</a:t>
            </a:r>
          </a:p>
        </p:txBody>
      </p:sp>
      <p:sp>
        <p:nvSpPr>
          <p:cNvPr id="108" name="txt_108"/>
          <p:cNvSpPr txBox="1"/>
          <p:nvPr/>
        </p:nvSpPr>
        <p:spPr>
          <a:xfrm>
            <a:off x="4749800" y="1200000"/>
            <a:ext cx="7442200" cy="1371600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normAutofit/>
          </a:bodyPr>
          <a:lstStyle/>
          <a:p>
            <a:pPr algn="l"/>
            <a:r>
              <a:rPr lang="en-US" sz="5200" b="1" dirty="0">
                <a:solidFill>
                  <a:srgbClr val="064E3B"/>
                </a:solidFill>
              </a:rPr>
              <a:t>Portfolio Report</a:t>
            </a:r>
          </a:p>
        </p:txBody>
      </p:sp>
      <p:sp>
        <p:nvSpPr>
          <p:cNvPr id="109" name="txt_109"/>
          <p:cNvSpPr txBox="1"/>
          <p:nvPr/>
        </p:nvSpPr>
        <p:spPr>
          <a:xfrm>
            <a:off x="4749800" y="2743200"/>
            <a:ext cx="7442200" cy="685800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normAutofit/>
          </a:bodyPr>
          <a:lstStyle/>
          <a:p>
            <a:pPr algn="l"/>
            <a:r>
              <a:rPr lang="en-US" sz="2400" b="0" dirty="0">
                <a:solidFill>
                  <a:srgbClr val="0F766E"/>
                </a:solidFill>
              </a:rPr>
              <a:t>Brand Reference Deck</a:t>
            </a:r>
          </a:p>
        </p:txBody>
      </p:sp>
      <p:sp>
        <p:nvSpPr>
          <p:cNvPr id="110" name="txt_110"/>
          <p:cNvSpPr txBox="1"/>
          <p:nvPr/>
        </p:nvSpPr>
        <p:spPr>
          <a:xfrm>
            <a:off x="4749800" y="3600000"/>
            <a:ext cx="7442200" cy="800000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normAutofit/>
          </a:bodyPr>
          <a:lstStyle/>
          <a:p>
            <a:pPr algn="l"/>
            <a:r>
              <a:rPr lang="en-US" sz="1300" b="0" dirty="0">
                <a:solidFill>
                  <a:srgbClr val="334155"/>
                </a:solidFill>
              </a:rPr>
              <a:t>Upload this file as a style reference on any PPT template
to apply the Emerald brand palette to your exports.</a:t>
            </a:r>
          </a:p>
        </p:txBody>
      </p:sp>
      <p:sp>
        <p:nvSpPr>
          <p:cNvPr id="111" name="txt_111"/>
          <p:cNvSpPr txBox="1"/>
          <p:nvPr/>
        </p:nvSpPr>
        <p:spPr>
          <a:xfrm>
            <a:off x="4749800" y="6458000"/>
            <a:ext cx="7442200" cy="285750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normAutofit/>
          </a:bodyPr>
          <a:lstStyle/>
          <a:p>
            <a:pPr algn="r"/>
            <a:r>
              <a:rPr lang="en-US" sz="900" b="0" dirty="0">
                <a:solidFill>
                  <a:srgbClr val="94A3B8"/>
                </a:solidFill>
              </a:rPr>
              <a:t>Generated 12 Jun 2026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>
          <a:grpSpLocks noGrp="1"/>
        </p:cNvGrpSpPr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rect_112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13" name="rect_113"/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txBody>
          <a:bodyPr/>
          <a:lstStyle/>
          <a:p/>
        </p:txBody>
      </p:sp>
      <p:sp>
        <p:nvSpPr>
          <p:cNvPr id="114" name="rect_114"/>
          <p:cNvSpPr>
            <a:spLocks noGrp="1"/>
          </p:cNvSpPr>
          <p:nvPr/>
        </p:nvSpPr>
        <p:spPr>
          <a:xfrm>
            <a:off x="0" y="114300"/>
            <a:ext cx="12192000" cy="97155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/>
          <a:lstStyle/>
          <a:p/>
        </p:txBody>
      </p:sp>
      <p:sp>
        <p:nvSpPr>
          <p:cNvPr id="115" name="txt_115"/>
          <p:cNvSpPr txBox="1"/>
          <p:nvPr/>
        </p:nvSpPr>
        <p:spPr>
          <a:xfrm>
            <a:off x="685800" y="114300"/>
            <a:ext cx="10820400" cy="971550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l"/>
            <a:r>
              <a:rPr lang="en-US" sz="2800" b="1" dirty="0">
                <a:solidFill>
                  <a:srgbClr val="064E3B"/>
                </a:solidFill>
              </a:rPr>
              <a:t>Brand Colour Palette</a:t>
            </a:r>
          </a:p>
        </p:txBody>
      </p:sp>
      <p:sp>
        <p:nvSpPr>
          <p:cNvPr id="116" name="rect_116"/>
          <p:cNvSpPr>
            <a:spLocks noGrp="1"/>
          </p:cNvSpPr>
          <p:nvPr/>
        </p:nvSpPr>
        <p:spPr>
          <a:xfrm>
            <a:off x="685800" y="1085850"/>
            <a:ext cx="1082040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lstStyle/>
          <a:p/>
        </p:txBody>
      </p:sp>
      <p:sp>
        <p:nvSpPr>
          <p:cNvPr id="117" name="rect_117"/>
          <p:cNvSpPr>
            <a:spLocks noGrp="1"/>
          </p:cNvSpPr>
          <p:nvPr/>
        </p:nvSpPr>
        <p:spPr>
          <a:xfrm>
            <a:off x="11792000" y="0"/>
            <a:ext cx="400000" cy="114300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txBody>
          <a:bodyPr/>
          <a:lstStyle/>
          <a:p/>
        </p:txBody>
      </p:sp>
      <p:sp>
        <p:nvSpPr>
          <p:cNvPr id="118" name="swatch_118"/>
          <p:cNvSpPr>
            <a:spLocks noGrp="1"/>
          </p:cNvSpPr>
          <p:nvPr/>
        </p:nvSpPr>
        <p:spPr>
          <a:xfrm>
            <a:off x="685800" y="1500000"/>
            <a:ext cx="1828800" cy="1371600"/>
          </a:xfrm>
          <a:prstGeom prst="roundRect">
            <a:avLst>
              <a:gd name="adj" fmla="val 10000"/>
            </a:avLst>
          </a:prstGeom>
          <a:solidFill>
            <a:srgbClr val="065F46"/>
          </a:solidFill>
          <a:ln>
            <a:noFill/>
          </a:ln>
        </p:spPr>
        <p:txBody>
          <a:bodyPr/>
          <a:lstStyle/>
          <a:p/>
        </p:txBody>
      </p:sp>
      <p:sp>
        <p:nvSpPr>
          <p:cNvPr id="119" name="swatch_lbl_119"/>
          <p:cNvSpPr txBox="1"/>
          <p:nvPr/>
        </p:nvSpPr>
        <p:spPr>
          <a:xfrm>
            <a:off x="685800" y="2985900"/>
            <a:ext cx="1828800" cy="685800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normAutofit/>
          </a:bodyPr>
          <a:lstStyle/>
          <a:p>
            <a:r>
              <a:rPr lang="en-US" sz="1000" b="1" dirty="0">
                <a:solidFill>
                  <a:srgbClr val="334155"/>
                </a:solidFill>
              </a:rPr>
              <a:t>Emerald 800</a:t>
            </a:r>
          </a:p>
          <a:p>
            <a:r>
              <a:rPr lang="en-US" sz="1000" b="0" dirty="0">
                <a:solidFill>
                  <a:srgbClr val="334155"/>
                </a:solidFill>
              </a:rPr>
              <a:t>#065F46</a:t>
            </a:r>
          </a:p>
        </p:txBody>
      </p:sp>
      <p:sp>
        <p:nvSpPr>
          <p:cNvPr id="120" name="swatch_120"/>
          <p:cNvSpPr>
            <a:spLocks noGrp="1"/>
          </p:cNvSpPr>
          <p:nvPr/>
        </p:nvSpPr>
        <p:spPr>
          <a:xfrm>
            <a:off x="2743200" y="1500000"/>
            <a:ext cx="1828800" cy="1371600"/>
          </a:xfrm>
          <a:prstGeom prst="roundRect">
            <a:avLst>
              <a:gd name="adj" fmla="val 10000"/>
            </a:avLst>
          </a:prstGeom>
          <a:solidFill>
            <a:srgbClr val="04785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1" name="swatch_lbl_121"/>
          <p:cNvSpPr txBox="1"/>
          <p:nvPr/>
        </p:nvSpPr>
        <p:spPr>
          <a:xfrm>
            <a:off x="2743200" y="2985900"/>
            <a:ext cx="1828800" cy="685800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normAutofit/>
          </a:bodyPr>
          <a:lstStyle/>
          <a:p>
            <a:r>
              <a:rPr lang="en-US" sz="1000" b="1" dirty="0">
                <a:solidFill>
                  <a:srgbClr val="334155"/>
                </a:solidFill>
              </a:rPr>
              <a:t>Emerald 700</a:t>
            </a:r>
          </a:p>
          <a:p>
            <a:r>
              <a:rPr lang="en-US" sz="1000" b="0" dirty="0">
                <a:solidFill>
                  <a:srgbClr val="334155"/>
                </a:solidFill>
              </a:rPr>
              <a:t>#047857</a:t>
            </a:r>
          </a:p>
          <a:p>
            <a:r>
              <a:rPr lang="en-US" sz="900" b="0" dirty="0">
                <a:solidFill>
                  <a:srgbClr val="047857"/>
                </a:solidFill>
              </a:rPr>
              <a:t>accent1</a:t>
            </a:r>
          </a:p>
        </p:txBody>
      </p:sp>
      <p:sp>
        <p:nvSpPr>
          <p:cNvPr id="122" name="swatch_122"/>
          <p:cNvSpPr>
            <a:spLocks noGrp="1"/>
          </p:cNvSpPr>
          <p:nvPr/>
        </p:nvSpPr>
        <p:spPr>
          <a:xfrm>
            <a:off x="4800600" y="1500000"/>
            <a:ext cx="1828800" cy="1371600"/>
          </a:xfrm>
          <a:prstGeom prst="roundRect">
            <a:avLst>
              <a:gd name="adj" fmla="val 10000"/>
            </a:avLst>
          </a:prstGeom>
          <a:solidFill>
            <a:srgbClr val="10B981"/>
          </a:solidFill>
          <a:ln>
            <a:noFill/>
          </a:ln>
        </p:spPr>
        <p:txBody>
          <a:bodyPr/>
          <a:lstStyle/>
          <a:p/>
        </p:txBody>
      </p:sp>
      <p:sp>
        <p:nvSpPr>
          <p:cNvPr id="123" name="swatch_lbl_123"/>
          <p:cNvSpPr txBox="1"/>
          <p:nvPr/>
        </p:nvSpPr>
        <p:spPr>
          <a:xfrm>
            <a:off x="4800600" y="2985900"/>
            <a:ext cx="1828800" cy="685800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normAutofit/>
          </a:bodyPr>
          <a:lstStyle/>
          <a:p>
            <a:r>
              <a:rPr lang="en-US" sz="1000" b="1" dirty="0">
                <a:solidFill>
                  <a:srgbClr val="334155"/>
                </a:solidFill>
              </a:rPr>
              <a:t>Emerald 500</a:t>
            </a:r>
          </a:p>
          <a:p>
            <a:r>
              <a:rPr lang="en-US" sz="1000" b="0" dirty="0">
                <a:solidFill>
                  <a:srgbClr val="334155"/>
                </a:solidFill>
              </a:rPr>
              <a:t>#10B981</a:t>
            </a:r>
          </a:p>
          <a:p>
            <a:r>
              <a:rPr lang="en-US" sz="900" b="0" dirty="0">
                <a:solidFill>
                  <a:srgbClr val="047857"/>
                </a:solidFill>
              </a:rPr>
              <a:t>accent2</a:t>
            </a:r>
          </a:p>
        </p:txBody>
      </p:sp>
      <p:sp>
        <p:nvSpPr>
          <p:cNvPr id="124" name="swatch_124"/>
          <p:cNvSpPr>
            <a:spLocks noGrp="1"/>
          </p:cNvSpPr>
          <p:nvPr/>
        </p:nvSpPr>
        <p:spPr>
          <a:xfrm>
            <a:off x="6858000" y="1500000"/>
            <a:ext cx="1828800" cy="1371600"/>
          </a:xfrm>
          <a:prstGeom prst="roundRect">
            <a:avLst>
              <a:gd name="adj" fmla="val 10000"/>
            </a:avLst>
          </a:prstGeom>
          <a:solidFill>
            <a:srgbClr val="0F766E"/>
          </a:solidFill>
          <a:ln>
            <a:noFill/>
          </a:ln>
        </p:spPr>
        <p:txBody>
          <a:bodyPr/>
          <a:lstStyle/>
          <a:p/>
        </p:txBody>
      </p:sp>
      <p:sp>
        <p:nvSpPr>
          <p:cNvPr id="125" name="swatch_lbl_125"/>
          <p:cNvSpPr txBox="1"/>
          <p:nvPr/>
        </p:nvSpPr>
        <p:spPr>
          <a:xfrm>
            <a:off x="6858000" y="2985900"/>
            <a:ext cx="1828800" cy="685800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normAutofit/>
          </a:bodyPr>
          <a:lstStyle/>
          <a:p>
            <a:r>
              <a:rPr lang="en-US" sz="1000" b="1" dirty="0">
                <a:solidFill>
                  <a:srgbClr val="334155"/>
                </a:solidFill>
              </a:rPr>
              <a:t>Teal 700</a:t>
            </a:r>
          </a:p>
          <a:p>
            <a:r>
              <a:rPr lang="en-US" sz="1000" b="0" dirty="0">
                <a:solidFill>
                  <a:srgbClr val="334155"/>
                </a:solidFill>
              </a:rPr>
              <a:t>#0F766E</a:t>
            </a:r>
          </a:p>
          <a:p>
            <a:r>
              <a:rPr lang="en-US" sz="900" b="0" dirty="0">
                <a:solidFill>
                  <a:srgbClr val="047857"/>
                </a:solidFill>
              </a:rPr>
              <a:t>accent3</a:t>
            </a:r>
          </a:p>
        </p:txBody>
      </p:sp>
      <p:sp>
        <p:nvSpPr>
          <p:cNvPr id="126" name="swatch_126"/>
          <p:cNvSpPr>
            <a:spLocks noGrp="1"/>
          </p:cNvSpPr>
          <p:nvPr/>
        </p:nvSpPr>
        <p:spPr>
          <a:xfrm>
            <a:off x="8915400" y="1500000"/>
            <a:ext cx="1828800" cy="1371600"/>
          </a:xfrm>
          <a:prstGeom prst="roundRect">
            <a:avLst>
              <a:gd name="adj" fmla="val 10000"/>
            </a:avLst>
          </a:prstGeom>
          <a:solidFill>
            <a:srgbClr val="B45309"/>
          </a:solidFill>
          <a:ln>
            <a:noFill/>
          </a:ln>
        </p:spPr>
        <p:txBody>
          <a:bodyPr/>
          <a:lstStyle/>
          <a:p/>
        </p:txBody>
      </p:sp>
      <p:sp>
        <p:nvSpPr>
          <p:cNvPr id="127" name="swatch_lbl_127"/>
          <p:cNvSpPr txBox="1"/>
          <p:nvPr/>
        </p:nvSpPr>
        <p:spPr>
          <a:xfrm>
            <a:off x="8915400" y="2985900"/>
            <a:ext cx="1828800" cy="685800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normAutofit/>
          </a:bodyPr>
          <a:lstStyle/>
          <a:p>
            <a:r>
              <a:rPr lang="en-US" sz="1000" b="1" dirty="0">
                <a:solidFill>
                  <a:srgbClr val="334155"/>
                </a:solidFill>
              </a:rPr>
              <a:t>Amber 700</a:t>
            </a:r>
          </a:p>
          <a:p>
            <a:r>
              <a:rPr lang="en-US" sz="1000" b="0" dirty="0">
                <a:solidFill>
                  <a:srgbClr val="334155"/>
                </a:solidFill>
              </a:rPr>
              <a:t>#B45309</a:t>
            </a:r>
          </a:p>
          <a:p>
            <a:r>
              <a:rPr lang="en-US" sz="900" b="0" dirty="0">
                <a:solidFill>
                  <a:srgbClr val="047857"/>
                </a:solidFill>
              </a:rPr>
              <a:t>accent4</a:t>
            </a:r>
          </a:p>
        </p:txBody>
      </p:sp>
      <p:sp>
        <p:nvSpPr>
          <p:cNvPr id="128" name="txt_128"/>
          <p:cNvSpPr txBox="1"/>
          <p:nvPr/>
        </p:nvSpPr>
        <p:spPr>
          <a:xfrm>
            <a:off x="685800" y="4800000"/>
            <a:ext cx="10820400" cy="400000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normAutofit/>
          </a:bodyPr>
          <a:lstStyle/>
          <a:p>
            <a:pPr algn="l"/>
            <a:r>
              <a:rPr lang="en-US" sz="1100" b="0" dirty="0">
                <a:solidFill>
                  <a:srgbClr val="94A3B8"/>
                </a:solidFill>
              </a:rPr>
              <a:t>The accent1 colour (#047857) is read by the theme reader when this file is uploaded as a style reference.</a:t>
            </a:r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>
          <a:grpSpLocks noGrp="1"/>
        </p:cNvGrpSpPr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rect_129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30" name="rect_130"/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txBody>
          <a:bodyPr/>
          <a:lstStyle/>
          <a:p/>
        </p:txBody>
      </p:sp>
      <p:sp>
        <p:nvSpPr>
          <p:cNvPr id="131" name="rect_131"/>
          <p:cNvSpPr>
            <a:spLocks noGrp="1"/>
          </p:cNvSpPr>
          <p:nvPr/>
        </p:nvSpPr>
        <p:spPr>
          <a:xfrm>
            <a:off x="0" y="114300"/>
            <a:ext cx="12192000" cy="97155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/>
          <a:lstStyle/>
          <a:p/>
        </p:txBody>
      </p:sp>
      <p:sp>
        <p:nvSpPr>
          <p:cNvPr id="132" name="txt_132"/>
          <p:cNvSpPr txBox="1"/>
          <p:nvPr/>
        </p:nvSpPr>
        <p:spPr>
          <a:xfrm>
            <a:off x="685800" y="114300"/>
            <a:ext cx="10820400" cy="971550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l"/>
            <a:r>
              <a:rPr lang="en-US" sz="2800" b="1" dirty="0">
                <a:solidFill>
                  <a:srgbClr val="064E3B"/>
                </a:solidFill>
              </a:rPr>
              <a:t>Typography</a:t>
            </a:r>
          </a:p>
        </p:txBody>
      </p:sp>
      <p:sp>
        <p:nvSpPr>
          <p:cNvPr id="133" name="rect_133"/>
          <p:cNvSpPr>
            <a:spLocks noGrp="1"/>
          </p:cNvSpPr>
          <p:nvPr/>
        </p:nvSpPr>
        <p:spPr>
          <a:xfrm>
            <a:off x="685800" y="1085850"/>
            <a:ext cx="1082040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lstStyle/>
          <a:p/>
        </p:txBody>
      </p:sp>
      <p:sp>
        <p:nvSpPr>
          <p:cNvPr id="134" name="rect_134"/>
          <p:cNvSpPr>
            <a:spLocks noGrp="1"/>
          </p:cNvSpPr>
          <p:nvPr/>
        </p:nvSpPr>
        <p:spPr>
          <a:xfrm>
            <a:off x="11792000" y="0"/>
            <a:ext cx="400000" cy="114300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txBody>
          <a:bodyPr/>
          <a:lstStyle/>
          <a:p/>
        </p:txBody>
      </p:sp>
      <p:sp>
        <p:nvSpPr>
          <p:cNvPr id="135" name="txt_135"/>
          <p:cNvSpPr txBox="1"/>
          <p:nvPr/>
        </p:nvSpPr>
        <p:spPr>
          <a:xfrm>
            <a:off x="685800" y="1300000"/>
            <a:ext cx="10820400" cy="685800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normAutofit/>
          </a:bodyPr>
          <a:lstStyle/>
          <a:p>
            <a:pPr algn="l"/>
            <a:r>
              <a:rPr lang="en-US" sz="5200" b="1" dirty="0">
                <a:solidFill>
                  <a:srgbClr val="064E3B"/>
                </a:solidFill>
              </a:rPr>
              <a:t>Heading 1 — Report Title  (52pt, bold, Calibri)</a:t>
            </a:r>
          </a:p>
        </p:txBody>
      </p:sp>
      <p:sp>
        <p:nvSpPr>
          <p:cNvPr id="136" name="txt_136"/>
          <p:cNvSpPr txBox="1"/>
          <p:nvPr/>
        </p:nvSpPr>
        <p:spPr>
          <a:xfrm>
            <a:off x="685800" y="2200000"/>
            <a:ext cx="10820400" cy="457200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normAutofit/>
          </a:bodyPr>
          <a:lstStyle/>
          <a:p>
            <a:pPr algn="l"/>
            <a:r>
              <a:rPr lang="en-US" sz="2800" b="1" dirty="0">
                <a:solidFill>
                  <a:srgbClr val="065F46"/>
                </a:solidFill>
              </a:rPr>
              <a:t>Heading 2 — Section Title  (28pt, bold)</a:t>
            </a:r>
          </a:p>
        </p:txBody>
      </p:sp>
      <p:sp>
        <p:nvSpPr>
          <p:cNvPr id="137" name="txt_137"/>
          <p:cNvSpPr txBox="1"/>
          <p:nvPr/>
        </p:nvSpPr>
        <p:spPr>
          <a:xfrm>
            <a:off x="685800" y="2800000"/>
            <a:ext cx="10820400" cy="400000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normAutofit/>
          </a:bodyPr>
          <a:lstStyle/>
          <a:p>
            <a:pPr algn="l"/>
            <a:r>
              <a:rPr lang="en-US" sz="1700" b="0" dirty="0">
                <a:solidFill>
                  <a:srgbClr val="334155"/>
                </a:solidFill>
              </a:rPr>
              <a:t>Body text — supporting narrative and bullet points  (17pt, regular)</a:t>
            </a:r>
          </a:p>
        </p:txBody>
      </p:sp>
      <p:sp>
        <p:nvSpPr>
          <p:cNvPr id="138" name="txt_138"/>
          <p:cNvSpPr txBox="1"/>
          <p:nvPr/>
        </p:nvSpPr>
        <p:spPr>
          <a:xfrm>
            <a:off x="685800" y="3300000"/>
            <a:ext cx="10820400" cy="342900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normAutofit/>
          </a:bodyPr>
          <a:lstStyle/>
          <a:p>
            <a:pPr algn="l"/>
            <a:r>
              <a:rPr lang="en-US" sz="1000" b="0" dirty="0">
                <a:solidFill>
                  <a:srgbClr val="94A3B8"/>
                </a:solidFill>
              </a:rPr>
              <a:t>Caption / footer text  (10pt, light)</a:t>
            </a:r>
          </a:p>
        </p:txBody>
      </p:sp>
      <p:sp>
        <p:nvSpPr>
          <p:cNvPr id="139" name="rect_139"/>
          <p:cNvSpPr>
            <a:spLocks noGrp="1"/>
          </p:cNvSpPr>
          <p:nvPr/>
        </p:nvSpPr>
        <p:spPr>
          <a:xfrm>
            <a:off x="685800" y="3800000"/>
            <a:ext cx="10820400" cy="9525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txBody>
          <a:bodyPr/>
          <a:lstStyle/>
          <a:p/>
        </p:txBody>
      </p:sp>
      <p:sp>
        <p:nvSpPr>
          <p:cNvPr id="140" name="txt_140"/>
          <p:cNvSpPr txBox="1"/>
          <p:nvPr/>
        </p:nvSpPr>
        <p:spPr>
          <a:xfrm>
            <a:off x="685800" y="3900000"/>
            <a:ext cx="10820400" cy="500000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normAutofit/>
          </a:bodyPr>
          <a:lstStyle/>
          <a:p>
            <a:pPr algn="l"/>
            <a:r>
              <a:rPr lang="en-US" sz="1100" b="0" dirty="0">
                <a:solidFill>
                  <a:srgbClr val="94A3B8"/>
                </a:solidFill>
              </a:rPr>
              <a:t>All typefaces inherit the theme's majorFont / minorFont (Calibri by default). To change the font, edit the style template in PowerPoint and re-upload.</a:t>
            </a:r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>
          <a:grpSpLocks noGrp="1"/>
        </p:cNvGrpSpPr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rect_14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42" name="rect_142"/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txBody>
          <a:bodyPr/>
          <a:lstStyle/>
          <a:p/>
        </p:txBody>
      </p:sp>
      <p:sp>
        <p:nvSpPr>
          <p:cNvPr id="143" name="rect_143"/>
          <p:cNvSpPr>
            <a:spLocks noGrp="1"/>
          </p:cNvSpPr>
          <p:nvPr/>
        </p:nvSpPr>
        <p:spPr>
          <a:xfrm>
            <a:off x="0" y="114300"/>
            <a:ext cx="12192000" cy="97155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/>
          <a:lstStyle/>
          <a:p/>
        </p:txBody>
      </p:sp>
      <p:sp>
        <p:nvSpPr>
          <p:cNvPr id="144" name="txt_144"/>
          <p:cNvSpPr txBox="1"/>
          <p:nvPr/>
        </p:nvSpPr>
        <p:spPr>
          <a:xfrm>
            <a:off x="685800" y="114300"/>
            <a:ext cx="10820400" cy="971550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l"/>
            <a:r>
              <a:rPr lang="en-US" sz="2800" b="1" dirty="0">
                <a:solidFill>
                  <a:srgbClr val="064E3B"/>
                </a:solidFill>
              </a:rPr>
              <a:t>KPI Data Table — Sample</a:t>
            </a:r>
          </a:p>
        </p:txBody>
      </p:sp>
      <p:sp>
        <p:nvSpPr>
          <p:cNvPr id="145" name="rect_145"/>
          <p:cNvSpPr>
            <a:spLocks noGrp="1"/>
          </p:cNvSpPr>
          <p:nvPr/>
        </p:nvSpPr>
        <p:spPr>
          <a:xfrm>
            <a:off x="685800" y="1085850"/>
            <a:ext cx="1082040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lstStyle/>
          <a:p/>
        </p:txBody>
      </p:sp>
      <p:sp>
        <p:nvSpPr>
          <p:cNvPr id="146" name="rect_146"/>
          <p:cNvSpPr>
            <a:spLocks noGrp="1"/>
          </p:cNvSpPr>
          <p:nvPr/>
        </p:nvSpPr>
        <p:spPr>
          <a:xfrm>
            <a:off x="11792000" y="0"/>
            <a:ext cx="400000" cy="114300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txBody>
          <a:bodyPr/>
          <a:lstStyle/>
          <a:p/>
        </p:txBody>
      </p:sp>
      <p:graphicFrame>
        <p:nvGraphicFramePr>
          <p:cNvPr id="147" name="SampleTable_147"/>
          <p:cNvGraphicFramePr>
            <a:graphicFrameLocks noGrp="1"/>
          </p:cNvGraphicFramePr>
          <p:nvPr/>
        </p:nvGraphicFramePr>
        <p:xfrm>
          <a:off x="685800" y="1300000"/>
          <a:ext cx="10820400" cy="5215100"/>
        </p:xfrm>
        <a:graphic>
          <a:graphicData uri="http://schemas.openxmlformats.org/drawingml/2006/table">
            <a:tbl>
              <a:tblPr firstRow="1" bandRow="1">
                <a:solidFill>
                  <a:srgbClr val="FFFFFF"/>
                </a:solidFill>
              </a:tblPr>
              <a:tblGrid>
                <a:gridCol w="4328160"/>
                <a:gridCol w="1623060"/>
                <a:gridCol w="1623060"/>
                <a:gridCol w="1623060"/>
                <a:gridCol w="1623060"/>
              </a:tblGrid>
              <a:tr h="400000"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Metric</a:t>
                      </a:r>
                    </a:p>
                  </a:txBody>
                  <a:tcPr>
                    <a:solidFill>
                      <a:srgbClr val="047857"/>
                    </a:solidFill>
                    <a:lnL w="9525">
                      <a:solidFill>
                        <a:srgbClr val="D1FAE5"/>
                      </a:solidFill>
                    </a:lnL>
                    <a:lnR w="9525">
                      <a:solidFill>
                        <a:srgbClr val="D1FAE5"/>
                      </a:solidFill>
                    </a:lnR>
                    <a:lnT w="9525">
                      <a:solidFill>
                        <a:srgbClr val="D1FAE5"/>
                      </a:solidFill>
                    </a:lnT>
                    <a:lnB w="9525">
                      <a:solidFill>
                        <a:srgbClr val="D1FA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FY2021</a:t>
                      </a:r>
                    </a:p>
                  </a:txBody>
                  <a:tcPr>
                    <a:solidFill>
                      <a:srgbClr val="047857"/>
                    </a:solidFill>
                    <a:lnL w="9525">
                      <a:solidFill>
                        <a:srgbClr val="D1FAE5"/>
                      </a:solidFill>
                    </a:lnL>
                    <a:lnR w="9525">
                      <a:solidFill>
                        <a:srgbClr val="D1FAE5"/>
                      </a:solidFill>
                    </a:lnR>
                    <a:lnT w="9525">
                      <a:solidFill>
                        <a:srgbClr val="D1FAE5"/>
                      </a:solidFill>
                    </a:lnT>
                    <a:lnB w="9525">
                      <a:solidFill>
                        <a:srgbClr val="D1FA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FY2022</a:t>
                      </a:r>
                    </a:p>
                  </a:txBody>
                  <a:tcPr>
                    <a:solidFill>
                      <a:srgbClr val="047857"/>
                    </a:solidFill>
                    <a:lnL w="9525">
                      <a:solidFill>
                        <a:srgbClr val="D1FAE5"/>
                      </a:solidFill>
                    </a:lnL>
                    <a:lnR w="9525">
                      <a:solidFill>
                        <a:srgbClr val="D1FAE5"/>
                      </a:solidFill>
                    </a:lnR>
                    <a:lnT w="9525">
                      <a:solidFill>
                        <a:srgbClr val="D1FAE5"/>
                      </a:solidFill>
                    </a:lnT>
                    <a:lnB w="9525">
                      <a:solidFill>
                        <a:srgbClr val="D1FA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FY2023</a:t>
                      </a:r>
                    </a:p>
                  </a:txBody>
                  <a:tcPr>
                    <a:solidFill>
                      <a:srgbClr val="047857"/>
                    </a:solidFill>
                    <a:lnL w="9525">
                      <a:solidFill>
                        <a:srgbClr val="D1FAE5"/>
                      </a:solidFill>
                    </a:lnL>
                    <a:lnR w="9525">
                      <a:solidFill>
                        <a:srgbClr val="D1FAE5"/>
                      </a:solidFill>
                    </a:lnR>
                    <a:lnT w="9525">
                      <a:solidFill>
                        <a:srgbClr val="D1FAE5"/>
                      </a:solidFill>
                    </a:lnT>
                    <a:lnB w="9525">
                      <a:solidFill>
                        <a:srgbClr val="D1FA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FY2024</a:t>
                      </a:r>
                    </a:p>
                  </a:txBody>
                  <a:tcPr>
                    <a:solidFill>
                      <a:srgbClr val="047857"/>
                    </a:solidFill>
                    <a:lnL w="9525">
                      <a:solidFill>
                        <a:srgbClr val="D1FAE5"/>
                      </a:solidFill>
                    </a:lnL>
                    <a:lnR w="9525">
                      <a:solidFill>
                        <a:srgbClr val="D1FAE5"/>
                      </a:solidFill>
                    </a:lnR>
                    <a:lnT w="9525">
                      <a:solidFill>
                        <a:srgbClr val="D1FAE5"/>
                      </a:solidFill>
                    </a:lnT>
                    <a:lnB w="9525">
                      <a:solidFill>
                        <a:srgbClr val="D1FAE5"/>
                      </a:solidFill>
                    </a:lnB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algn="l"/>
                      <a:r>
                        <a:rPr lang="en-US" sz="1200" b="0" dirty="0">
                          <a:solidFill>
                            <a:srgbClr val="064E3B"/>
                          </a:solidFill>
                        </a:rPr>
                        <a:t>Revenue (€m)</a:t>
                      </a:r>
                    </a:p>
                  </a:txBody>
                  <a:tcPr>
                    <a:solidFill>
                      <a:srgbClr val="D1FAE5"/>
                    </a:solidFill>
                    <a:lnL w="9525">
                      <a:solidFill>
                        <a:srgbClr val="D1FAE5"/>
                      </a:solidFill>
                    </a:lnL>
                    <a:lnR w="9525">
                      <a:solidFill>
                        <a:srgbClr val="D1FAE5"/>
                      </a:solidFill>
                    </a:lnR>
                    <a:lnT w="9525">
                      <a:solidFill>
                        <a:srgbClr val="D1FAE5"/>
                      </a:solidFill>
                    </a:lnT>
                    <a:lnB w="9525">
                      <a:solidFill>
                        <a:srgbClr val="D1FA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0" dirty="0">
                          <a:solidFill>
                            <a:srgbClr val="064E3B"/>
                          </a:solidFill>
                        </a:rPr>
                        <a:t>12.4</a:t>
                      </a:r>
                    </a:p>
                  </a:txBody>
                  <a:tcPr>
                    <a:solidFill>
                      <a:srgbClr val="D1FAE5"/>
                    </a:solidFill>
                    <a:lnL w="9525">
                      <a:solidFill>
                        <a:srgbClr val="D1FAE5"/>
                      </a:solidFill>
                    </a:lnL>
                    <a:lnR w="9525">
                      <a:solidFill>
                        <a:srgbClr val="D1FAE5"/>
                      </a:solidFill>
                    </a:lnR>
                    <a:lnT w="9525">
                      <a:solidFill>
                        <a:srgbClr val="D1FAE5"/>
                      </a:solidFill>
                    </a:lnT>
                    <a:lnB w="9525">
                      <a:solidFill>
                        <a:srgbClr val="D1FA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0" dirty="0">
                          <a:solidFill>
                            <a:srgbClr val="064E3B"/>
                          </a:solidFill>
                        </a:rPr>
                        <a:t>18.7</a:t>
                      </a:r>
                    </a:p>
                  </a:txBody>
                  <a:tcPr>
                    <a:solidFill>
                      <a:srgbClr val="D1FAE5"/>
                    </a:solidFill>
                    <a:lnL w="9525">
                      <a:solidFill>
                        <a:srgbClr val="D1FAE5"/>
                      </a:solidFill>
                    </a:lnL>
                    <a:lnR w="9525">
                      <a:solidFill>
                        <a:srgbClr val="D1FAE5"/>
                      </a:solidFill>
                    </a:lnR>
                    <a:lnT w="9525">
                      <a:solidFill>
                        <a:srgbClr val="D1FAE5"/>
                      </a:solidFill>
                    </a:lnT>
                    <a:lnB w="9525">
                      <a:solidFill>
                        <a:srgbClr val="D1FA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0" dirty="0">
                          <a:solidFill>
                            <a:srgbClr val="064E3B"/>
                          </a:solidFill>
                        </a:rPr>
                        <a:t>26.3</a:t>
                      </a:r>
                    </a:p>
                  </a:txBody>
                  <a:tcPr>
                    <a:solidFill>
                      <a:srgbClr val="D1FAE5"/>
                    </a:solidFill>
                    <a:lnL w="9525">
                      <a:solidFill>
                        <a:srgbClr val="D1FAE5"/>
                      </a:solidFill>
                    </a:lnL>
                    <a:lnR w="9525">
                      <a:solidFill>
                        <a:srgbClr val="D1FAE5"/>
                      </a:solidFill>
                    </a:lnR>
                    <a:lnT w="9525">
                      <a:solidFill>
                        <a:srgbClr val="D1FAE5"/>
                      </a:solidFill>
                    </a:lnT>
                    <a:lnB w="9525">
                      <a:solidFill>
                        <a:srgbClr val="D1FA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0" dirty="0">
                          <a:solidFill>
                            <a:srgbClr val="064E3B"/>
                          </a:solidFill>
                        </a:rPr>
                        <a:t>37.4</a:t>
                      </a:r>
                    </a:p>
                  </a:txBody>
                  <a:tcPr>
                    <a:solidFill>
                      <a:srgbClr val="D1FAE5"/>
                    </a:solidFill>
                    <a:lnL w="9525">
                      <a:solidFill>
                        <a:srgbClr val="D1FAE5"/>
                      </a:solidFill>
                    </a:lnL>
                    <a:lnR w="9525">
                      <a:solidFill>
                        <a:srgbClr val="D1FAE5"/>
                      </a:solidFill>
                    </a:lnR>
                    <a:lnT w="9525">
                      <a:solidFill>
                        <a:srgbClr val="D1FAE5"/>
                      </a:solidFill>
                    </a:lnT>
                    <a:lnB w="9525">
                      <a:solidFill>
                        <a:srgbClr val="D1FAE5"/>
                      </a:solidFill>
                    </a:lnB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algn="l"/>
                      <a:r>
                        <a:rPr lang="en-US" sz="1200" b="0" dirty="0">
                          <a:solidFill>
                            <a:srgbClr val="064E3B"/>
                          </a:solidFill>
                        </a:rPr>
                        <a:t>EBITDA (€m)</a:t>
                      </a:r>
                    </a:p>
                  </a:txBody>
                  <a:tcPr>
                    <a:solidFill>
                      <a:srgbClr val="FFFFFF"/>
                    </a:solidFill>
                    <a:lnL w="9525">
                      <a:solidFill>
                        <a:srgbClr val="D1FAE5"/>
                      </a:solidFill>
                    </a:lnL>
                    <a:lnR w="9525">
                      <a:solidFill>
                        <a:srgbClr val="D1FAE5"/>
                      </a:solidFill>
                    </a:lnR>
                    <a:lnT w="9525">
                      <a:solidFill>
                        <a:srgbClr val="D1FAE5"/>
                      </a:solidFill>
                    </a:lnT>
                    <a:lnB w="9525">
                      <a:solidFill>
                        <a:srgbClr val="D1FA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0" dirty="0">
                          <a:solidFill>
                            <a:srgbClr val="064E3B"/>
                          </a:solidFill>
                        </a:rPr>
                        <a:t>1.8</a:t>
                      </a:r>
                    </a:p>
                  </a:txBody>
                  <a:tcPr>
                    <a:solidFill>
                      <a:srgbClr val="FFFFFF"/>
                    </a:solidFill>
                    <a:lnL w="9525">
                      <a:solidFill>
                        <a:srgbClr val="D1FAE5"/>
                      </a:solidFill>
                    </a:lnL>
                    <a:lnR w="9525">
                      <a:solidFill>
                        <a:srgbClr val="D1FAE5"/>
                      </a:solidFill>
                    </a:lnR>
                    <a:lnT w="9525">
                      <a:solidFill>
                        <a:srgbClr val="D1FAE5"/>
                      </a:solidFill>
                    </a:lnT>
                    <a:lnB w="9525">
                      <a:solidFill>
                        <a:srgbClr val="D1FA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0" dirty="0">
                          <a:solidFill>
                            <a:srgbClr val="064E3B"/>
                          </a:solidFill>
                        </a:rPr>
                        <a:t>3.1</a:t>
                      </a:r>
                    </a:p>
                  </a:txBody>
                  <a:tcPr>
                    <a:solidFill>
                      <a:srgbClr val="FFFFFF"/>
                    </a:solidFill>
                    <a:lnL w="9525">
                      <a:solidFill>
                        <a:srgbClr val="D1FAE5"/>
                      </a:solidFill>
                    </a:lnL>
                    <a:lnR w="9525">
                      <a:solidFill>
                        <a:srgbClr val="D1FAE5"/>
                      </a:solidFill>
                    </a:lnR>
                    <a:lnT w="9525">
                      <a:solidFill>
                        <a:srgbClr val="D1FAE5"/>
                      </a:solidFill>
                    </a:lnT>
                    <a:lnB w="9525">
                      <a:solidFill>
                        <a:srgbClr val="D1FA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0" dirty="0">
                          <a:solidFill>
                            <a:srgbClr val="064E3B"/>
                          </a:solidFill>
                        </a:rPr>
                        <a:t>4.8</a:t>
                      </a:r>
                    </a:p>
                  </a:txBody>
                  <a:tcPr>
                    <a:solidFill>
                      <a:srgbClr val="FFFFFF"/>
                    </a:solidFill>
                    <a:lnL w="9525">
                      <a:solidFill>
                        <a:srgbClr val="D1FAE5"/>
                      </a:solidFill>
                    </a:lnL>
                    <a:lnR w="9525">
                      <a:solidFill>
                        <a:srgbClr val="D1FAE5"/>
                      </a:solidFill>
                    </a:lnR>
                    <a:lnT w="9525">
                      <a:solidFill>
                        <a:srgbClr val="D1FAE5"/>
                      </a:solidFill>
                    </a:lnT>
                    <a:lnB w="9525">
                      <a:solidFill>
                        <a:srgbClr val="D1FA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0" dirty="0">
                          <a:solidFill>
                            <a:srgbClr val="064E3B"/>
                          </a:solidFill>
                        </a:rPr>
                        <a:t>6.9</a:t>
                      </a:r>
                    </a:p>
                  </a:txBody>
                  <a:tcPr>
                    <a:solidFill>
                      <a:srgbClr val="FFFFFF"/>
                    </a:solidFill>
                    <a:lnL w="9525">
                      <a:solidFill>
                        <a:srgbClr val="D1FAE5"/>
                      </a:solidFill>
                    </a:lnL>
                    <a:lnR w="9525">
                      <a:solidFill>
                        <a:srgbClr val="D1FAE5"/>
                      </a:solidFill>
                    </a:lnR>
                    <a:lnT w="9525">
                      <a:solidFill>
                        <a:srgbClr val="D1FAE5"/>
                      </a:solidFill>
                    </a:lnT>
                    <a:lnB w="9525">
                      <a:solidFill>
                        <a:srgbClr val="D1FAE5"/>
                      </a:solidFill>
                    </a:lnB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algn="l"/>
                      <a:r>
                        <a:rPr lang="en-US" sz="1200" b="0" dirty="0">
                          <a:solidFill>
                            <a:srgbClr val="064E3B"/>
                          </a:solidFill>
                        </a:rPr>
                        <a:t>EBITDA Margin (%)</a:t>
                      </a:r>
                    </a:p>
                  </a:txBody>
                  <a:tcPr>
                    <a:solidFill>
                      <a:srgbClr val="D1FAE5"/>
                    </a:solidFill>
                    <a:lnL w="9525">
                      <a:solidFill>
                        <a:srgbClr val="D1FAE5"/>
                      </a:solidFill>
                    </a:lnL>
                    <a:lnR w="9525">
                      <a:solidFill>
                        <a:srgbClr val="D1FAE5"/>
                      </a:solidFill>
                    </a:lnR>
                    <a:lnT w="9525">
                      <a:solidFill>
                        <a:srgbClr val="D1FAE5"/>
                      </a:solidFill>
                    </a:lnT>
                    <a:lnB w="9525">
                      <a:solidFill>
                        <a:srgbClr val="D1FA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0" dirty="0">
                          <a:solidFill>
                            <a:srgbClr val="064E3B"/>
                          </a:solidFill>
                        </a:rPr>
                        <a:t>14.5</a:t>
                      </a:r>
                    </a:p>
                  </a:txBody>
                  <a:tcPr>
                    <a:solidFill>
                      <a:srgbClr val="D1FAE5"/>
                    </a:solidFill>
                    <a:lnL w="9525">
                      <a:solidFill>
                        <a:srgbClr val="D1FAE5"/>
                      </a:solidFill>
                    </a:lnL>
                    <a:lnR w="9525">
                      <a:solidFill>
                        <a:srgbClr val="D1FAE5"/>
                      </a:solidFill>
                    </a:lnR>
                    <a:lnT w="9525">
                      <a:solidFill>
                        <a:srgbClr val="D1FAE5"/>
                      </a:solidFill>
                    </a:lnT>
                    <a:lnB w="9525">
                      <a:solidFill>
                        <a:srgbClr val="D1FA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0" dirty="0">
                          <a:solidFill>
                            <a:srgbClr val="064E3B"/>
                          </a:solidFill>
                        </a:rPr>
                        <a:t>16.6</a:t>
                      </a:r>
                    </a:p>
                  </a:txBody>
                  <a:tcPr>
                    <a:solidFill>
                      <a:srgbClr val="D1FAE5"/>
                    </a:solidFill>
                    <a:lnL w="9525">
                      <a:solidFill>
                        <a:srgbClr val="D1FAE5"/>
                      </a:solidFill>
                    </a:lnL>
                    <a:lnR w="9525">
                      <a:solidFill>
                        <a:srgbClr val="D1FAE5"/>
                      </a:solidFill>
                    </a:lnR>
                    <a:lnT w="9525">
                      <a:solidFill>
                        <a:srgbClr val="D1FAE5"/>
                      </a:solidFill>
                    </a:lnT>
                    <a:lnB w="9525">
                      <a:solidFill>
                        <a:srgbClr val="D1FA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0" dirty="0">
                          <a:solidFill>
                            <a:srgbClr val="064E3B"/>
                          </a:solidFill>
                        </a:rPr>
                        <a:t>18.3</a:t>
                      </a:r>
                    </a:p>
                  </a:txBody>
                  <a:tcPr>
                    <a:solidFill>
                      <a:srgbClr val="D1FAE5"/>
                    </a:solidFill>
                    <a:lnL w="9525">
                      <a:solidFill>
                        <a:srgbClr val="D1FAE5"/>
                      </a:solidFill>
                    </a:lnL>
                    <a:lnR w="9525">
                      <a:solidFill>
                        <a:srgbClr val="D1FAE5"/>
                      </a:solidFill>
                    </a:lnR>
                    <a:lnT w="9525">
                      <a:solidFill>
                        <a:srgbClr val="D1FAE5"/>
                      </a:solidFill>
                    </a:lnT>
                    <a:lnB w="9525">
                      <a:solidFill>
                        <a:srgbClr val="D1FA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0" dirty="0">
                          <a:solidFill>
                            <a:srgbClr val="064E3B"/>
                          </a:solidFill>
                        </a:rPr>
                        <a:t>18.5</a:t>
                      </a:r>
                    </a:p>
                  </a:txBody>
                  <a:tcPr>
                    <a:solidFill>
                      <a:srgbClr val="D1FAE5"/>
                    </a:solidFill>
                    <a:lnL w="9525">
                      <a:solidFill>
                        <a:srgbClr val="D1FAE5"/>
                      </a:solidFill>
                    </a:lnL>
                    <a:lnR w="9525">
                      <a:solidFill>
                        <a:srgbClr val="D1FAE5"/>
                      </a:solidFill>
                    </a:lnR>
                    <a:lnT w="9525">
                      <a:solidFill>
                        <a:srgbClr val="D1FAE5"/>
                      </a:solidFill>
                    </a:lnT>
                    <a:lnB w="9525">
                      <a:solidFill>
                        <a:srgbClr val="D1FAE5"/>
                      </a:solidFill>
                    </a:lnB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algn="l"/>
                      <a:r>
                        <a:rPr lang="en-US" sz="1200" b="0" dirty="0">
                          <a:solidFill>
                            <a:srgbClr val="064E3B"/>
                          </a:solidFill>
                        </a:rPr>
                        <a:t>Headcount</a:t>
                      </a:r>
                    </a:p>
                  </a:txBody>
                  <a:tcPr>
                    <a:solidFill>
                      <a:srgbClr val="FFFFFF"/>
                    </a:solidFill>
                    <a:lnL w="9525">
                      <a:solidFill>
                        <a:srgbClr val="D1FAE5"/>
                      </a:solidFill>
                    </a:lnL>
                    <a:lnR w="9525">
                      <a:solidFill>
                        <a:srgbClr val="D1FAE5"/>
                      </a:solidFill>
                    </a:lnR>
                    <a:lnT w="9525">
                      <a:solidFill>
                        <a:srgbClr val="D1FAE5"/>
                      </a:solidFill>
                    </a:lnT>
                    <a:lnB w="9525">
                      <a:solidFill>
                        <a:srgbClr val="D1FA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0" dirty="0">
                          <a:solidFill>
                            <a:srgbClr val="064E3B"/>
                          </a:solidFill>
                        </a:rPr>
                        <a:t>48</a:t>
                      </a:r>
                    </a:p>
                  </a:txBody>
                  <a:tcPr>
                    <a:solidFill>
                      <a:srgbClr val="FFFFFF"/>
                    </a:solidFill>
                    <a:lnL w="9525">
                      <a:solidFill>
                        <a:srgbClr val="D1FAE5"/>
                      </a:solidFill>
                    </a:lnL>
                    <a:lnR w="9525">
                      <a:solidFill>
                        <a:srgbClr val="D1FAE5"/>
                      </a:solidFill>
                    </a:lnR>
                    <a:lnT w="9525">
                      <a:solidFill>
                        <a:srgbClr val="D1FAE5"/>
                      </a:solidFill>
                    </a:lnT>
                    <a:lnB w="9525">
                      <a:solidFill>
                        <a:srgbClr val="D1FA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0" dirty="0">
                          <a:solidFill>
                            <a:srgbClr val="064E3B"/>
                          </a:solidFill>
                        </a:rPr>
                        <a:t>71</a:t>
                      </a:r>
                    </a:p>
                  </a:txBody>
                  <a:tcPr>
                    <a:solidFill>
                      <a:srgbClr val="FFFFFF"/>
                    </a:solidFill>
                    <a:lnL w="9525">
                      <a:solidFill>
                        <a:srgbClr val="D1FAE5"/>
                      </a:solidFill>
                    </a:lnL>
                    <a:lnR w="9525">
                      <a:solidFill>
                        <a:srgbClr val="D1FAE5"/>
                      </a:solidFill>
                    </a:lnR>
                    <a:lnT w="9525">
                      <a:solidFill>
                        <a:srgbClr val="D1FAE5"/>
                      </a:solidFill>
                    </a:lnT>
                    <a:lnB w="9525">
                      <a:solidFill>
                        <a:srgbClr val="D1FA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0" dirty="0">
                          <a:solidFill>
                            <a:srgbClr val="064E3B"/>
                          </a:solidFill>
                        </a:rPr>
                        <a:t>103</a:t>
                      </a:r>
                    </a:p>
                  </a:txBody>
                  <a:tcPr>
                    <a:solidFill>
                      <a:srgbClr val="FFFFFF"/>
                    </a:solidFill>
                    <a:lnL w="9525">
                      <a:solidFill>
                        <a:srgbClr val="D1FAE5"/>
                      </a:solidFill>
                    </a:lnL>
                    <a:lnR w="9525">
                      <a:solidFill>
                        <a:srgbClr val="D1FAE5"/>
                      </a:solidFill>
                    </a:lnR>
                    <a:lnT w="9525">
                      <a:solidFill>
                        <a:srgbClr val="D1FAE5"/>
                      </a:solidFill>
                    </a:lnT>
                    <a:lnB w="9525">
                      <a:solidFill>
                        <a:srgbClr val="D1FA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0" dirty="0">
                          <a:solidFill>
                            <a:srgbClr val="064E3B"/>
                          </a:solidFill>
                        </a:rPr>
                        <a:t>138</a:t>
                      </a:r>
                    </a:p>
                  </a:txBody>
                  <a:tcPr>
                    <a:solidFill>
                      <a:srgbClr val="FFFFFF"/>
                    </a:solidFill>
                    <a:lnL w="9525">
                      <a:solidFill>
                        <a:srgbClr val="D1FAE5"/>
                      </a:solidFill>
                    </a:lnL>
                    <a:lnR w="9525">
                      <a:solidFill>
                        <a:srgbClr val="D1FAE5"/>
                      </a:solidFill>
                    </a:lnR>
                    <a:lnT w="9525">
                      <a:solidFill>
                        <a:srgbClr val="D1FAE5"/>
                      </a:solidFill>
                    </a:lnT>
                    <a:lnB w="9525">
                      <a:solidFill>
                        <a:srgbClr val="D1FAE5"/>
                      </a:solidFill>
                    </a:lnB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algn="l"/>
                      <a:r>
                        <a:rPr lang="en-US" sz="1200" b="0" dirty="0">
                          <a:solidFill>
                            <a:srgbClr val="064E3B"/>
                          </a:solidFill>
                        </a:rPr>
                        <a:t>ARR (€m)</a:t>
                      </a:r>
                    </a:p>
                  </a:txBody>
                  <a:tcPr>
                    <a:solidFill>
                      <a:srgbClr val="D1FAE5"/>
                    </a:solidFill>
                    <a:lnL w="9525">
                      <a:solidFill>
                        <a:srgbClr val="D1FAE5"/>
                      </a:solidFill>
                    </a:lnL>
                    <a:lnR w="9525">
                      <a:solidFill>
                        <a:srgbClr val="D1FAE5"/>
                      </a:solidFill>
                    </a:lnR>
                    <a:lnT w="9525">
                      <a:solidFill>
                        <a:srgbClr val="D1FAE5"/>
                      </a:solidFill>
                    </a:lnT>
                    <a:lnB w="9525">
                      <a:solidFill>
                        <a:srgbClr val="D1FA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0" dirty="0">
                          <a:solidFill>
                            <a:srgbClr val="064E3B"/>
                          </a:solidFill>
                        </a:rPr>
                        <a:t>9.6</a:t>
                      </a:r>
                    </a:p>
                  </a:txBody>
                  <a:tcPr>
                    <a:solidFill>
                      <a:srgbClr val="D1FAE5"/>
                    </a:solidFill>
                    <a:lnL w="9525">
                      <a:solidFill>
                        <a:srgbClr val="D1FAE5"/>
                      </a:solidFill>
                    </a:lnL>
                    <a:lnR w="9525">
                      <a:solidFill>
                        <a:srgbClr val="D1FAE5"/>
                      </a:solidFill>
                    </a:lnR>
                    <a:lnT w="9525">
                      <a:solidFill>
                        <a:srgbClr val="D1FAE5"/>
                      </a:solidFill>
                    </a:lnT>
                    <a:lnB w="9525">
                      <a:solidFill>
                        <a:srgbClr val="D1FA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0" dirty="0">
                          <a:solidFill>
                            <a:srgbClr val="064E3B"/>
                          </a:solidFill>
                        </a:rPr>
                        <a:t>15.2</a:t>
                      </a:r>
                    </a:p>
                  </a:txBody>
                  <a:tcPr>
                    <a:solidFill>
                      <a:srgbClr val="D1FAE5"/>
                    </a:solidFill>
                    <a:lnL w="9525">
                      <a:solidFill>
                        <a:srgbClr val="D1FAE5"/>
                      </a:solidFill>
                    </a:lnL>
                    <a:lnR w="9525">
                      <a:solidFill>
                        <a:srgbClr val="D1FAE5"/>
                      </a:solidFill>
                    </a:lnR>
                    <a:lnT w="9525">
                      <a:solidFill>
                        <a:srgbClr val="D1FAE5"/>
                      </a:solidFill>
                    </a:lnT>
                    <a:lnB w="9525">
                      <a:solidFill>
                        <a:srgbClr val="D1FA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0" dirty="0">
                          <a:solidFill>
                            <a:srgbClr val="064E3B"/>
                          </a:solidFill>
                        </a:rPr>
                        <a:t>22.7</a:t>
                      </a:r>
                    </a:p>
                  </a:txBody>
                  <a:tcPr>
                    <a:solidFill>
                      <a:srgbClr val="D1FAE5"/>
                    </a:solidFill>
                    <a:lnL w="9525">
                      <a:solidFill>
                        <a:srgbClr val="D1FAE5"/>
                      </a:solidFill>
                    </a:lnL>
                    <a:lnR w="9525">
                      <a:solidFill>
                        <a:srgbClr val="D1FAE5"/>
                      </a:solidFill>
                    </a:lnR>
                    <a:lnT w="9525">
                      <a:solidFill>
                        <a:srgbClr val="D1FAE5"/>
                      </a:solidFill>
                    </a:lnT>
                    <a:lnB w="9525">
                      <a:solidFill>
                        <a:srgbClr val="D1FAE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0" dirty="0">
                          <a:solidFill>
                            <a:srgbClr val="064E3B"/>
                          </a:solidFill>
                        </a:rPr>
                        <a:t>33.1</a:t>
                      </a:r>
                    </a:p>
                  </a:txBody>
                  <a:tcPr>
                    <a:solidFill>
                      <a:srgbClr val="D1FAE5"/>
                    </a:solidFill>
                    <a:lnL w="9525">
                      <a:solidFill>
                        <a:srgbClr val="D1FAE5"/>
                      </a:solidFill>
                    </a:lnL>
                    <a:lnR w="9525">
                      <a:solidFill>
                        <a:srgbClr val="D1FAE5"/>
                      </a:solidFill>
                    </a:lnR>
                    <a:lnT w="9525">
                      <a:solidFill>
                        <a:srgbClr val="D1FAE5"/>
                      </a:solidFill>
                    </a:lnT>
                    <a:lnB w="9525">
                      <a:solidFill>
                        <a:srgbClr val="D1FAE5"/>
                      </a:solidFill>
                    </a:lnB>
                  </a:tcPr>
                </a:tc>
              </a:tr>
            </a:tbl>
          </a:graphicData>
        </a:graphic>
      </p:graphicFrame>
    </p:spTree>
  </p:cSld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>
          <a:grpSpLocks noGrp="1"/>
        </p:cNvGrpSpPr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rect_148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49" name="rect_149"/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/>
          <a:lstStyle/>
          <a:p/>
        </p:txBody>
      </p:sp>
      <p:sp>
        <p:nvSpPr>
          <p:cNvPr id="150" name="rect_150"/>
          <p:cNvSpPr>
            <a:spLocks noGrp="1"/>
          </p:cNvSpPr>
          <p:nvPr/>
        </p:nvSpPr>
        <p:spPr>
          <a:xfrm>
            <a:off x="0" y="114300"/>
            <a:ext cx="12192000" cy="97155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/>
          <a:lstStyle/>
          <a:p/>
        </p:txBody>
      </p:sp>
      <p:sp>
        <p:nvSpPr>
          <p:cNvPr id="151" name="txt_151"/>
          <p:cNvSpPr txBox="1"/>
          <p:nvPr/>
        </p:nvSpPr>
        <p:spPr>
          <a:xfrm>
            <a:off x="685800" y="114300"/>
            <a:ext cx="10820400" cy="971550"/>
          </a:xfrm>
          <a:prstGeom prst="rect">
            <a:avLst/>
          </a:prstGeom>
          <a:noFill/>
          <a:ln>
            <a:noFill/>
          </a:ln>
        </p:spPr>
        <p:txBody>
          <a:bodyPr anchor="ctr" wrap="square">
            <a:normAutofit/>
          </a:bodyPr>
          <a:lstStyle/>
          <a:p>
            <a:pPr algn="l"/>
            <a:r>
              <a:rPr lang="en-US" sz="2800" b="1" dirty="0">
                <a:solidFill>
                  <a:srgbClr val="064E3B"/>
                </a:solidFill>
              </a:rPr>
              <a:t>Investment Highlights</a:t>
            </a:r>
          </a:p>
        </p:txBody>
      </p:sp>
      <p:sp>
        <p:nvSpPr>
          <p:cNvPr id="152" name="rect_152"/>
          <p:cNvSpPr>
            <a:spLocks noGrp="1"/>
          </p:cNvSpPr>
          <p:nvPr/>
        </p:nvSpPr>
        <p:spPr>
          <a:xfrm>
            <a:off x="685800" y="1085850"/>
            <a:ext cx="1082040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/>
          <a:lstStyle/>
          <a:p/>
        </p:txBody>
      </p:sp>
      <p:sp>
        <p:nvSpPr>
          <p:cNvPr id="153" name="rect_153"/>
          <p:cNvSpPr>
            <a:spLocks noGrp="1"/>
          </p:cNvSpPr>
          <p:nvPr/>
        </p:nvSpPr>
        <p:spPr>
          <a:xfrm>
            <a:off x="11792000" y="0"/>
            <a:ext cx="400000" cy="114300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txBody>
          <a:bodyPr/>
          <a:lstStyle/>
          <a:p/>
        </p:txBody>
      </p:sp>
      <p:sp>
        <p:nvSpPr>
          <p:cNvPr id="154" name="bullets_154"/>
          <p:cNvSpPr txBox="1"/>
          <p:nvPr/>
        </p:nvSpPr>
        <p:spPr>
          <a:xfrm>
            <a:off x="685800" y="1228725"/>
            <a:ext cx="10820400" cy="5286375"/>
          </a:xfrm>
          <a:prstGeom prst="rect">
            <a:avLst/>
          </a:prstGeom>
          <a:noFill/>
          <a:ln>
            <a:noFill/>
          </a:ln>
        </p:spPr>
        <p:txBody>
          <a:bodyPr anchor="t" wrap="square">
            <a:normAutofit/>
          </a:bodyPr>
          <a:lstStyle/>
          <a:p>
            <a:pPr marL="342900" indent="-342900">
              <a:buClr>
                <a:srgbClr val="047857"/>
              </a:buClr>
              <a:buChar char="●"/>
            </a:pPr>
            <a:r>
              <a:rPr lang="en-US" sz="1700" b="0" dirty="0">
                <a:solidFill>
                  <a:srgbClr val="334155"/>
                </a:solidFill>
              </a:rPr>
              <a:t>Portfolio company delivered 42% revenue growth YoY, exceeding the base case by 8pp</a:t>
            </a:r>
          </a:p>
          <a:p>
            <a:pPr marL="342900" indent="-342900">
              <a:spcBef>
                <a:spcPts val="180"/>
              </a:spcBef>
              <a:buClr>
                <a:srgbClr val="047857"/>
              </a:buClr>
              <a:buChar char="●"/>
            </a:pPr>
            <a:r>
              <a:rPr lang="en-US" sz="1700" b="0" dirty="0">
                <a:solidFill>
                  <a:srgbClr val="334155"/>
                </a:solidFill>
              </a:rPr>
              <a:t>EBITDA margin expanded to 18.3% from 14.1% driven by improved operating leverage</a:t>
            </a:r>
          </a:p>
          <a:p>
            <a:pPr marL="342900" indent="-342900">
              <a:spcBef>
                <a:spcPts val="180"/>
              </a:spcBef>
              <a:buClr>
                <a:srgbClr val="047857"/>
              </a:buClr>
              <a:buChar char="●"/>
            </a:pPr>
            <a:r>
              <a:rPr lang="en-US" sz="1700" b="0" dirty="0">
                <a:solidFill>
                  <a:srgbClr val="334155"/>
                </a:solidFill>
              </a:rPr>
              <a:t>Completed bolt-on acquisition of TechCo Ltd in Q3; integration on track</a:t>
            </a:r>
          </a:p>
          <a:p>
            <a:pPr marL="342900" indent="-342900">
              <a:spcBef>
                <a:spcPts val="180"/>
              </a:spcBef>
              <a:buClr>
                <a:srgbClr val="047857"/>
              </a:buClr>
              <a:buChar char="●"/>
            </a:pPr>
            <a:r>
              <a:rPr lang="en-US" sz="1700" b="0" dirty="0">
                <a:solidFill>
                  <a:srgbClr val="334155"/>
                </a:solidFill>
              </a:rPr>
              <a:t>Management team strengthened with appointment of new CFO from industry</a:t>
            </a:r>
          </a:p>
          <a:p>
            <a:pPr marL="342900" indent="-342900">
              <a:spcBef>
                <a:spcPts val="180"/>
              </a:spcBef>
              <a:buClr>
                <a:srgbClr val="047857"/>
              </a:buClr>
              <a:buChar char="●"/>
            </a:pPr>
            <a:r>
              <a:rPr lang="en-US" sz="1700" b="0" dirty="0">
                <a:solidFill>
                  <a:srgbClr val="334155"/>
                </a:solidFill>
              </a:rPr>
              <a:t>Pipeline remains active — 3 follow-on deals under review for H2</a:t>
            </a:r>
          </a:p>
        </p:txBody>
      </p:sp>
    </p:spTree>
  </p:cSld>
</p:sld>
</file>

<file path=ppt/theme/theme1.xml><?xml version="1.0" encoding="utf-8"?>
<a:theme xmlns:a="http://schemas.openxmlformats.org/drawingml/2006/main" name="CapHiveEmerald">
  <a:themeElements>
    <a:clrScheme name="CapHiveEmerald">
      <a:dk1>
        <a:srgbClr val="064E3B"/>
      </a:dk1>
      <a:lt1>
        <a:srgbClr val="FFFFFF"/>
      </a:lt1>
      <a:dk2>
        <a:srgbClr val="065F46"/>
      </a:dk2>
      <a:lt2>
        <a:srgbClr val="ECFDF5"/>
      </a:lt2>
      <a:accent1>
        <a:srgbClr val="047857"/>
      </a:accent1>
      <a:accent2>
        <a:srgbClr val="10B981"/>
      </a:accent2>
      <a:accent3>
        <a:srgbClr val="0F766E"/>
      </a:accent3>
      <a:accent4>
        <a:srgbClr val="B45309"/>
      </a:accent4>
      <a:accent5>
        <a:srgbClr val="D1FAE5"/>
      </a:accent5>
      <a:accent6>
        <a:srgbClr val="D4A847"/>
      </a:accent6>
      <a:hlink>
        <a:srgbClr val="0F766E"/>
      </a:hlink>
      <a:folHlink>
        <a:srgbClr val="10B981"/>
      </a:folHlink>
    </a:clrScheme>
    <a:fontScheme name="CapHiveEmerald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CapHiveEmerald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